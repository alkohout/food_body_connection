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81" r:id="rId12"/>
    <p:sldId id="273" r:id="rId13"/>
    <p:sldId id="274" r:id="rId14"/>
    <p:sldId id="276" r:id="rId15"/>
    <p:sldId id="275" r:id="rId16"/>
    <p:sldId id="277" r:id="rId17"/>
    <p:sldId id="278" r:id="rId18"/>
    <p:sldId id="280" r:id="rId19"/>
    <p:sldId id="263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000"/>
    <p:restoredTop sz="92109"/>
  </p:normalViewPr>
  <p:slideViewPr>
    <p:cSldViewPr snapToGrid="0">
      <p:cViewPr varScale="1">
        <p:scale>
          <a:sx n="104" d="100"/>
          <a:sy n="104" d="100"/>
        </p:scale>
        <p:origin x="8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8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5211" y="1999693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9072"/>
              </p:ext>
            </p:extLst>
          </p:nvPr>
        </p:nvGraphicFramePr>
        <p:xfrm>
          <a:off x="9112647" y="2657183"/>
          <a:ext cx="17125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74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2825"/>
              </p:ext>
            </p:extLst>
          </p:nvPr>
        </p:nvGraphicFramePr>
        <p:xfrm>
          <a:off x="522908" y="2483121"/>
          <a:ext cx="158255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13085C-86D3-3994-35F4-E5328AD24BF9}"/>
              </a:ext>
            </a:extLst>
          </p:cNvPr>
          <p:cNvCxnSpPr>
            <a:cxnSpLocks/>
          </p:cNvCxnSpPr>
          <p:nvPr/>
        </p:nvCxnSpPr>
        <p:spPr>
          <a:xfrm flipH="1">
            <a:off x="2209860" y="1689807"/>
            <a:ext cx="2430280" cy="162208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7267BF-54E2-DCA4-0348-08A0FBEEC07A}"/>
              </a:ext>
            </a:extLst>
          </p:cNvPr>
          <p:cNvCxnSpPr>
            <a:cxnSpLocks/>
          </p:cNvCxnSpPr>
          <p:nvPr/>
        </p:nvCxnSpPr>
        <p:spPr>
          <a:xfrm>
            <a:off x="7098810" y="1632605"/>
            <a:ext cx="1863970" cy="1766258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579634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963931" y="3664088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7243124-237B-07DC-7BC1-9BC308246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740" y="1618734"/>
            <a:ext cx="6710392" cy="491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FEFEE5D-4D90-9F92-9441-2C36A3D90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19" y="1359243"/>
            <a:ext cx="6640691" cy="534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blipFill>
                <a:blip r:embed="rId3"/>
                <a:stretch>
                  <a:fillRect l="-1215" t="-1575" b="-2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7CA3F2-8FE8-3FB2-0DAC-39A64DBF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070A650-625A-E8AF-C1EF-B7CC811FCAC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Model choice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53ECA9-0511-C6E9-E022-8DEB0B81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800995"/>
              </p:ext>
            </p:extLst>
          </p:nvPr>
        </p:nvGraphicFramePr>
        <p:xfrm>
          <a:off x="584886" y="1454148"/>
          <a:ext cx="11022228" cy="4894879"/>
        </p:xfrm>
        <a:graphic>
          <a:graphicData uri="http://schemas.openxmlformats.org/drawingml/2006/table">
            <a:tbl>
              <a:tblPr/>
              <a:tblGrid>
                <a:gridCol w="2702011">
                  <a:extLst>
                    <a:ext uri="{9D8B030D-6E8A-4147-A177-3AD203B41FA5}">
                      <a16:colId xmlns:a16="http://schemas.microsoft.com/office/drawing/2014/main" val="944400814"/>
                    </a:ext>
                  </a:extLst>
                </a:gridCol>
                <a:gridCol w="1767017">
                  <a:extLst>
                    <a:ext uri="{9D8B030D-6E8A-4147-A177-3AD203B41FA5}">
                      <a16:colId xmlns:a16="http://schemas.microsoft.com/office/drawing/2014/main" val="1266414210"/>
                    </a:ext>
                  </a:extLst>
                </a:gridCol>
                <a:gridCol w="1655805">
                  <a:extLst>
                    <a:ext uri="{9D8B030D-6E8A-4147-A177-3AD203B41FA5}">
                      <a16:colId xmlns:a16="http://schemas.microsoft.com/office/drawing/2014/main" val="3416231071"/>
                    </a:ext>
                  </a:extLst>
                </a:gridCol>
                <a:gridCol w="1433384">
                  <a:extLst>
                    <a:ext uri="{9D8B030D-6E8A-4147-A177-3AD203B41FA5}">
                      <a16:colId xmlns:a16="http://schemas.microsoft.com/office/drawing/2014/main" val="4281795310"/>
                    </a:ext>
                  </a:extLst>
                </a:gridCol>
                <a:gridCol w="1297459">
                  <a:extLst>
                    <a:ext uri="{9D8B030D-6E8A-4147-A177-3AD203B41FA5}">
                      <a16:colId xmlns:a16="http://schemas.microsoft.com/office/drawing/2014/main" val="2781552711"/>
                    </a:ext>
                  </a:extLst>
                </a:gridCol>
                <a:gridCol w="1037968">
                  <a:extLst>
                    <a:ext uri="{9D8B030D-6E8A-4147-A177-3AD203B41FA5}">
                      <a16:colId xmlns:a16="http://schemas.microsoft.com/office/drawing/2014/main" val="4110399253"/>
                    </a:ext>
                  </a:extLst>
                </a:gridCol>
                <a:gridCol w="1128584">
                  <a:extLst>
                    <a:ext uri="{9D8B030D-6E8A-4147-A177-3AD203B41FA5}">
                      <a16:colId xmlns:a16="http://schemas.microsoft.com/office/drawing/2014/main" val="2544393121"/>
                    </a:ext>
                  </a:extLst>
                </a:gridCol>
              </a:tblGrid>
              <a:tr h="8537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Model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Binary Outcome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Interpretable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Stable &amp; Reproducible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Handles Correlated Exposures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Fast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Overall Fit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6388"/>
                  </a:ext>
                </a:extLst>
              </a:tr>
              <a:tr h="571477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Logistic Regression (L1/L2)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✅✅✅ BEST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05537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Linear Probability Model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762001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Bernoulli Naive Bayes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958513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Fisher Exact Test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54091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Single Decision Tree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31692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Random Forest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015233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Gradient Boosting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809666"/>
                  </a:ext>
                </a:extLst>
              </a:tr>
              <a:tr h="39798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Bayesian Logistic Regression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595059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>
                          <a:effectLst/>
                        </a:rPr>
                        <a:t>Kernel SVM (RBF)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20715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Neural Networks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009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1700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516836" cy="23527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1220381" y="5318104"/>
            <a:ext cx="63098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 – mitigates collinearity and overfitting</a:t>
            </a:r>
          </a:p>
          <a:p>
            <a:r>
              <a:rPr lang="en-US" dirty="0"/>
              <a:t>Nested cross validation – unbiased and stable performance</a:t>
            </a:r>
          </a:p>
          <a:p>
            <a:r>
              <a:rPr lang="en-US" dirty="0"/>
              <a:t>Class weighting – accounts for class imbalance</a:t>
            </a:r>
          </a:p>
          <a:p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88573" y="4551165"/>
            <a:ext cx="3553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Symptom separation (ROC AUC)</a:t>
            </a:r>
          </a:p>
          <a:p>
            <a:r>
              <a:rPr lang="en-US" dirty="0"/>
              <a:t>Recall</a:t>
            </a:r>
          </a:p>
          <a:p>
            <a:r>
              <a:rPr lang="en-US" dirty="0"/>
              <a:t>Sample size</a:t>
            </a:r>
          </a:p>
          <a:p>
            <a:r>
              <a:rPr lang="en-US" dirty="0"/>
              <a:t>Confidence intervals</a:t>
            </a:r>
          </a:p>
          <a:p>
            <a:r>
              <a:rPr lang="en-US" dirty="0"/>
              <a:t>Collinearity warning</a:t>
            </a:r>
          </a:p>
        </p:txBody>
      </p:sp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386" y="1359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</a:t>
            </a:r>
            <a:r>
              <a:rPr kumimoji="0" lang="en-US" altLang="en-US" sz="2000" b="0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</a:rPr>
              <a:t>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591135"/>
            <a:ext cx="1017270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12290" name="Picture 2" descr="Allergen Rank Plot">
            <a:extLst>
              <a:ext uri="{FF2B5EF4-FFF2-40B4-BE49-F238E27FC236}">
                <a16:creationId xmlns:a16="http://schemas.microsoft.com/office/drawing/2014/main" id="{CFE3D16A-0140-38D9-9671-B619937B97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1" r="-1366" b="50776"/>
          <a:stretch>
            <a:fillRect/>
          </a:stretch>
        </p:blipFill>
        <p:spPr bwMode="auto">
          <a:xfrm>
            <a:off x="825500" y="1359243"/>
            <a:ext cx="10500651" cy="483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91" y="1359243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to allergens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92A20-F70F-F30C-AEE1-E58FBC6A605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Summary: 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BA8B96-FE08-9D73-880D-C07EBFE4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AD7CE20C-08B6-3CA5-7BB8-E8E67018069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745D5-82D1-CABB-4314-FAEBC0C39973}"/>
              </a:ext>
            </a:extLst>
          </p:cNvPr>
          <p:cNvSpPr txBox="1"/>
          <p:nvPr/>
        </p:nvSpPr>
        <p:spPr>
          <a:xfrm>
            <a:off x="2177538" y="1148488"/>
            <a:ext cx="7775270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Test for regular cycles in symptom occurrence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 new table – food, which automatically allocates allergens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Option to email reports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form displaying raw data users can edit / delete logs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users to log multiple allergens / symptoms per event</a:t>
            </a:r>
          </a:p>
          <a:p>
            <a:pPr lvl="1"/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to alternative system – long term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pic>
        <p:nvPicPr>
          <p:cNvPr id="13" name="Picture 1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483EA7-D037-28A6-1D35-7DD70BC7E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277" y="4237787"/>
            <a:ext cx="2251471" cy="22514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1779F78-4579-7C39-2623-FE0C8640B1A4}"/>
              </a:ext>
            </a:extLst>
          </p:cNvPr>
          <p:cNvSpPr txBox="1"/>
          <p:nvPr/>
        </p:nvSpPr>
        <p:spPr>
          <a:xfrm>
            <a:off x="4040862" y="4045151"/>
            <a:ext cx="76603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	</a:t>
            </a:r>
          </a:p>
          <a:p>
            <a:r>
              <a:rPr lang="en-US" dirty="0"/>
              <a:t>	https://alkohout.github.io/food_body_connection/dashboard.html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https://github.com/alkohout/food_body_connection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alisonkohout</a:t>
            </a:r>
            <a:r>
              <a:rPr lang="en-US" dirty="0"/>
              <a:t>/</a:t>
            </a:r>
          </a:p>
        </p:txBody>
      </p:sp>
      <p:pic>
        <p:nvPicPr>
          <p:cNvPr id="3" name="Picture 2" descr="A black cat in a circle&#10;&#10;AI-generated content may be incorrect.">
            <a:extLst>
              <a:ext uri="{FF2B5EF4-FFF2-40B4-BE49-F238E27FC236}">
                <a16:creationId xmlns:a16="http://schemas.microsoft.com/office/drawing/2014/main" id="{DC3372F8-A232-A4B8-AE71-9D1D4B165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835" y="5023677"/>
            <a:ext cx="609600" cy="609600"/>
          </a:xfrm>
          <a:prstGeom prst="rect">
            <a:avLst/>
          </a:prstGeom>
        </p:spPr>
      </p:pic>
      <p:pic>
        <p:nvPicPr>
          <p:cNvPr id="1026" name="Picture 2" descr="Website Icon PNG Images, Vectors Free Download - Pngtree">
            <a:extLst>
              <a:ext uri="{FF2B5EF4-FFF2-40B4-BE49-F238E27FC236}">
                <a16:creationId xmlns:a16="http://schemas.microsoft.com/office/drawing/2014/main" id="{A7D99F08-9520-340F-1987-E4EA5D39E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20333" y1="34500" x2="24500" y2="35000"/>
                        <a14:foregroundMark x1="29167" y1="21500" x2="26000" y2="23333"/>
                        <a14:foregroundMark x1="42167" y1="25917" x2="51167" y2="18750"/>
                        <a14:foregroundMark x1="51167" y1="18750" x2="55167" y2="22000"/>
                        <a14:foregroundMark x1="68750" y1="20167" x2="72917" y2="24333"/>
                        <a14:foregroundMark x1="75500" y1="36583" x2="82250" y2="44917"/>
                        <a14:foregroundMark x1="77583" y1="60500" x2="73917" y2="66750"/>
                        <a14:foregroundMark x1="37000" y1="61583" x2="61333" y2="60833"/>
                        <a14:foregroundMark x1="61333" y1="60833" x2="65333" y2="60833"/>
                        <a14:foregroundMark x1="19500" y1="61583" x2="24750" y2="57667"/>
                        <a14:foregroundMark x1="28417" y1="78000" x2="33833" y2="81667"/>
                        <a14:foregroundMark x1="43000" y1="75417" x2="61333" y2="76917"/>
                        <a14:foregroundMark x1="61333" y1="76917" x2="50750" y2="81667"/>
                        <a14:foregroundMark x1="50750" y1="81667" x2="50750" y2="81667"/>
                        <a14:foregroundMark x1="70833" y1="78500" x2="65583" y2="83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564" y="4180595"/>
            <a:ext cx="758140" cy="7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kedin logo png, Linkedin icon transparent png 18930480 PNG">
            <a:extLst>
              <a:ext uri="{FF2B5EF4-FFF2-40B4-BE49-F238E27FC236}">
                <a16:creationId xmlns:a16="http://schemas.microsoft.com/office/drawing/2014/main" id="{78EAF2FF-18C2-B91C-FE20-E5BDD91B1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886" y="5666630"/>
            <a:ext cx="971497" cy="9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582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7363</TotalTime>
  <Words>922</Words>
  <Application>Microsoft Macintosh PowerPoint</Application>
  <PresentationFormat>Widescreen</PresentationFormat>
  <Paragraphs>290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39</cp:revision>
  <dcterms:created xsi:type="dcterms:W3CDTF">2026-02-02T17:08:18Z</dcterms:created>
  <dcterms:modified xsi:type="dcterms:W3CDTF">2026-02-09T06:28:37Z</dcterms:modified>
</cp:coreProperties>
</file>