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64" r:id="rId4"/>
    <p:sldId id="258" r:id="rId5"/>
    <p:sldId id="265" r:id="rId6"/>
    <p:sldId id="266" r:id="rId7"/>
    <p:sldId id="267" r:id="rId8"/>
    <p:sldId id="268" r:id="rId9"/>
    <p:sldId id="269" r:id="rId10"/>
    <p:sldId id="270" r:id="rId11"/>
    <p:sldId id="273" r:id="rId12"/>
    <p:sldId id="274" r:id="rId13"/>
    <p:sldId id="276" r:id="rId14"/>
    <p:sldId id="275" r:id="rId15"/>
    <p:sldId id="277" r:id="rId16"/>
    <p:sldId id="278" r:id="rId17"/>
    <p:sldId id="280" r:id="rId18"/>
    <p:sldId id="263" r:id="rId19"/>
    <p:sldId id="279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2CEB2"/>
    <a:srgbClr val="6BB453"/>
    <a:srgbClr val="D9E0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580"/>
    <p:restoredTop sz="92245"/>
  </p:normalViewPr>
  <p:slideViewPr>
    <p:cSldViewPr snapToGrid="0">
      <p:cViewPr varScale="1">
        <p:scale>
          <a:sx n="118" d="100"/>
          <a:sy n="118" d="100"/>
        </p:scale>
        <p:origin x="264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A129F3-75EC-D542-A5E7-6B2EA2FC2F6F}" type="datetimeFigureOut">
              <a:rPr lang="en-US" smtClean="0"/>
              <a:t>2/6/26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C411DF-8F42-DC44-97D6-2476D6EDDA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9990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1349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6085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0880E-785B-4C9D-53B6-CA4C6EE0D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ADFD41-2549-4CEE-0113-CACCF7F041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434DA2-4A18-9142-78C1-A4FD716F63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984C2B-E178-AEC3-D3DA-A477085467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0518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7E4F3-E357-B922-5F82-829B909CA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3DF416-1638-2EB1-E608-7287D4C4C3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A37506-E53F-D3ED-0365-4B2DFFE953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C1A01B-D370-5544-ADAC-D4CBC5EF8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5292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BCD00-745A-5734-DF0E-E509F8037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4D8638-1D76-D13E-DEBC-A32B30889F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52784F-710F-D2BF-7498-E02CD8AC7B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5B35B9-9EBF-E9AC-2DDA-A697E4FB2B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8855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13CEC-283A-CA60-BD47-124544A1C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A996B0-CC5E-69ED-C75A-3A96D0C035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C77362-8E4D-CFD5-2281-BA10314573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26B9BD-11D0-0C45-DFDE-B84E44BD14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383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4B846-6235-C7FF-EE16-36CABAD9A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B9F214-9566-1B91-C95B-FE1401B416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CB3FF9-DB58-EAC4-7B9E-6E1AAE78FD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53BBC9-A369-F51C-2D6B-75AD11968F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2126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6F295-A72F-966A-AB8A-CB1B76C97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344491-C1C2-DC66-34C0-04542F2B9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15D02A-A991-D943-A9AD-9BA92D6BCA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3822AE-866E-1235-8345-7375446F10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94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B8A49-7F67-13EC-6D3F-92E4BF66C1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7EB51C-DD6C-D41E-05D4-952C19BF69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A5F786-6129-2C8B-B9AF-1DF00FF40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B65CF0-6EA1-ADDC-AD23-B20FE51C8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A075BD-C083-8537-DB5A-D5118C254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7095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0A113-22DC-F57A-DF96-40EDCE56F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4454D-9A24-EA15-8B1E-4D6EA08658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C647A2-A7E1-9B90-DA2D-D570801A0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8241D4-6957-B522-437F-5DA645974B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923DC8-7393-A4D7-01CD-0F5E8B40F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120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1B622-82BE-5124-33EE-8490F5AD8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742315-89B5-52F9-64EA-81A5FDF3E3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C8C6A0-8225-EAC2-8246-A9499E103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BD3C-4714-D0B1-FCE4-CA74986B9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4B1599-E2C7-4C08-13E1-53B06827B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507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DA1EB-342A-51E9-468B-4477E6F66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4BF26A-4848-804F-6CD9-49429B7AA7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D19D79-FF59-004B-A846-3A28886D2A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5C02F9-04A6-FE60-368D-A339D1BA5C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806647-37F7-4BB2-A92C-15B43574F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E5DF77-0BD3-25C8-F966-9A6104486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9292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25BA2-AC21-4736-89E5-3517517A78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724146-A48B-3286-F566-6BE8432D6D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791404-EC20-7638-7D31-D044BE2455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AABBE3-5EEE-688A-B7BD-A569EF3FDC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16D079-4849-5048-2291-253FF501CB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0243A8-CA75-466E-B3E7-63DD7B7FD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D6595E-72CE-30F3-D2FC-84FD92CE9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F443F0-0E43-05DA-1E0C-2F141C370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2582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F6894-67CC-19C2-496B-C77B9EB6D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E7BC4D-7DDB-416A-8B95-5D6F6A1F4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D226F9-0A8A-F714-4B0A-5CBCC7BC7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A76ABD-419D-5873-DF6C-14C416093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1830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BF1B54-CA8E-B3DF-4C1F-8680329F9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BFEE44-00A8-183E-6ED5-867E87E40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CE0734-CDA5-D21B-2F57-CD44FDB2C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1264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0A2C3-C532-7C86-371C-0D694D902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D022BB-0E54-DD0F-1D59-6BDB0F9DB3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2B0BFE-02DF-E0A9-5642-E275C16E5A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816CA7-C750-0183-502C-B2ED102B7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178FB1-7BB4-969E-9F95-2905DAA13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2ED124-C13C-C812-8D73-D52501A61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980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0D695-EF4F-F8CD-DE6B-D2D2BBE1A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813F1D-2E16-80D2-BEB6-2774B0D30E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43C812-AC58-DB20-76B8-CC88F71AA2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440857-2E10-FAE1-D295-06AF87BE9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A329A1-9FA5-095B-D554-63EB87E53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E52B6C-6D37-B899-CD50-038DB443A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9351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892EA-2075-3EFA-5E25-5EC1C60C7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049246-7F20-448E-3444-74B1771EA1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3BA780-EAF4-05AB-4914-B848FA7FB4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B78896-5E44-EF7A-D1AE-8E22CBCB9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C617CC-3D37-8172-FFEA-D9BFD3B3C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9039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31754AE-B960-0951-CB00-294ACBD654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4D6A3A-62DF-A497-ACCB-D00E8940E6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8B0018-4E54-93BF-399B-FCE06D959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885D3F-5A0E-526E-A7EB-0F8773FD7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FA5AD-F017-64D1-CB2B-27332A83D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4612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06CFD27-07EF-4358-9FEF-B15234F14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3C8C0E-289C-47EF-8E97-4BAB87B645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37F0D0-9E02-6714-A3E5-FDD8E96589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D32FC6-B259-0F40-A95B-8708F3C420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53320-4955-4759-5C2C-CB60785A8E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93636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alkohout.github.io/food_body_connection/dashboard.html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1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bowls of fruit and vegetables&#10;&#10;AI-generated content may be incorrect.">
            <a:extLst>
              <a:ext uri="{FF2B5EF4-FFF2-40B4-BE49-F238E27FC236}">
                <a16:creationId xmlns:a16="http://schemas.microsoft.com/office/drawing/2014/main" id="{F7F14300-9F9F-6606-0740-66EB056F829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1" b="156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E3948CE-CA02-8BC4-6749-2CDCAF3D2B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35211" y="1999693"/>
            <a:ext cx="9144000" cy="2387600"/>
          </a:xfrm>
        </p:spPr>
        <p:txBody>
          <a:bodyPr>
            <a:normAutofit/>
          </a:bodyPr>
          <a:lstStyle/>
          <a:p>
            <a:r>
              <a:rPr lang="en-US" sz="6600" dirty="0">
                <a:latin typeface="Arial" panose="020B0604020202020204" pitchFamily="34" charset="0"/>
                <a:cs typeface="Arial" panose="020B0604020202020204" pitchFamily="34" charset="0"/>
              </a:rPr>
              <a:t>Food – Body </a:t>
            </a:r>
            <a:br>
              <a:rPr lang="en-US" sz="6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600" dirty="0">
                <a:latin typeface="Arial" panose="020B0604020202020204" pitchFamily="34" charset="0"/>
                <a:cs typeface="Arial" panose="020B0604020202020204" pitchFamily="34" charset="0"/>
              </a:rPr>
              <a:t>Connection</a:t>
            </a:r>
          </a:p>
        </p:txBody>
      </p:sp>
    </p:spTree>
    <p:extLst>
      <p:ext uri="{BB962C8B-B14F-4D97-AF65-F5344CB8AC3E}">
        <p14:creationId xmlns:p14="http://schemas.microsoft.com/office/powerpoint/2010/main" val="34254965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FF2F2F-9A94-ADD0-4EE9-529C0A807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3C622-E266-4567-A32F-159AB4F365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2259" y="158536"/>
            <a:ext cx="8987481" cy="1200707"/>
          </a:xfrm>
        </p:spPr>
        <p:txBody>
          <a:bodyPr/>
          <a:lstStyle/>
          <a:p>
            <a:r>
              <a:rPr lang="en-US" dirty="0"/>
              <a:t>Target audience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ADAA61-AD0D-FF9C-6278-246725B247F8}"/>
              </a:ext>
            </a:extLst>
          </p:cNvPr>
          <p:cNvSpPr txBox="1"/>
          <p:nvPr/>
        </p:nvSpPr>
        <p:spPr>
          <a:xfrm>
            <a:off x="2261287" y="1846816"/>
            <a:ext cx="8019535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Health practitioners to provide app to patients </a:t>
            </a:r>
          </a:p>
          <a:p>
            <a:pPr marL="914400" lvl="1" indent="-457200">
              <a:buFontTx/>
              <a:buChar char="-"/>
            </a:pPr>
            <a:r>
              <a:rPr lang="en-US" sz="2800" dirty="0">
                <a:cs typeface="Arial" panose="020B0604020202020204" pitchFamily="34" charset="0"/>
              </a:rPr>
              <a:t>Dietician</a:t>
            </a:r>
          </a:p>
          <a:p>
            <a:pPr marL="914400" lvl="1" indent="-457200">
              <a:buFontTx/>
              <a:buChar char="-"/>
            </a:pPr>
            <a:r>
              <a:rPr lang="en-US" sz="2800" dirty="0">
                <a:cs typeface="Arial" panose="020B0604020202020204" pitchFamily="34" charset="0"/>
              </a:rPr>
              <a:t>Naturopath </a:t>
            </a:r>
          </a:p>
          <a:p>
            <a:pPr marL="914400" lvl="1" indent="-457200">
              <a:buFontTx/>
              <a:buChar char="-"/>
            </a:pPr>
            <a:r>
              <a:rPr lang="en-US" sz="2800" dirty="0">
                <a:cs typeface="Arial" panose="020B0604020202020204" pitchFamily="34" charset="0"/>
              </a:rPr>
              <a:t>Herbalist</a:t>
            </a:r>
          </a:p>
          <a:p>
            <a:pPr marL="914400" lvl="1" indent="-457200">
              <a:buFontTx/>
              <a:buChar char="-"/>
            </a:pPr>
            <a:r>
              <a:rPr lang="en-US" sz="2800" dirty="0">
                <a:cs typeface="Arial" panose="020B0604020202020204" pitchFamily="34" charset="0"/>
              </a:rPr>
              <a:t>Doctor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Any individual with chronic symptoms unable to pin down causes</a:t>
            </a:r>
          </a:p>
        </p:txBody>
      </p:sp>
      <p:pic>
        <p:nvPicPr>
          <p:cNvPr id="15" name="Picture 14" descr="Child lying in bed">
            <a:extLst>
              <a:ext uri="{FF2B5EF4-FFF2-40B4-BE49-F238E27FC236}">
                <a16:creationId xmlns:a16="http://schemas.microsoft.com/office/drawing/2014/main" id="{1E59DE4A-962A-8888-132D-267F74E1CA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3651" y="5170712"/>
            <a:ext cx="2109518" cy="1406214"/>
          </a:xfrm>
          <a:prstGeom prst="rect">
            <a:avLst/>
          </a:prstGeom>
        </p:spPr>
      </p:pic>
      <p:pic>
        <p:nvPicPr>
          <p:cNvPr id="19" name="Picture 18" descr="Person using iPad">
            <a:extLst>
              <a:ext uri="{FF2B5EF4-FFF2-40B4-BE49-F238E27FC236}">
                <a16:creationId xmlns:a16="http://schemas.microsoft.com/office/drawing/2014/main" id="{36D3B5A9-6C8D-5BD5-ADEF-5456D7581F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2001" y="2491596"/>
            <a:ext cx="2809416" cy="1874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7707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2A6F8F-926A-2DDD-3ED5-FDB363AD3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C95F652-30F2-64D2-042A-447E81544598}"/>
              </a:ext>
            </a:extLst>
          </p:cNvPr>
          <p:cNvSpPr txBox="1">
            <a:spLocks/>
          </p:cNvSpPr>
          <p:nvPr/>
        </p:nvSpPr>
        <p:spPr>
          <a:xfrm>
            <a:off x="1602259" y="158536"/>
            <a:ext cx="8987481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Goals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DE5CB4-F051-EA80-1DC7-43FE79D94EB2}"/>
              </a:ext>
            </a:extLst>
          </p:cNvPr>
          <p:cNvSpPr txBox="1"/>
          <p:nvPr/>
        </p:nvSpPr>
        <p:spPr>
          <a:xfrm>
            <a:off x="2261287" y="1846816"/>
            <a:ext cx="801953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Design a secure web based app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User can register/login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User can log: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allergens exposed to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symptoms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User can extract meaningful information from logged data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34434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76905F-1C55-53A2-1134-339CEF396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5A02D5C2-C7BC-B797-5F40-7F6A62C4487A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System Architecture Overview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7DD693-357F-9A3F-49E3-7A36211F6029}"/>
              </a:ext>
            </a:extLst>
          </p:cNvPr>
          <p:cNvSpPr txBox="1"/>
          <p:nvPr/>
        </p:nvSpPr>
        <p:spPr>
          <a:xfrm>
            <a:off x="2261286" y="1576997"/>
            <a:ext cx="801953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70AB52-BCE6-4DF8-3CC4-8134E6D9CA95}"/>
              </a:ext>
            </a:extLst>
          </p:cNvPr>
          <p:cNvSpPr txBox="1"/>
          <p:nvPr/>
        </p:nvSpPr>
        <p:spPr>
          <a:xfrm>
            <a:off x="2088291" y="1000897"/>
            <a:ext cx="9440561" cy="65556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solidFill>
                  <a:srgbClr val="000000"/>
                </a:solidFill>
              </a:rPr>
              <a:t>F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rontend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is a static web app (GitHub):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Send requests to an API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Render responses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solidFill>
                  <a:srgbClr val="000000"/>
                </a:solidFill>
              </a:rPr>
              <a:t>B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ackend 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(</a:t>
            </a:r>
            <a:r>
              <a:rPr kumimoji="0" lang="en-US" altLang="en-US" sz="280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</a:rPr>
              <a:t>FastAPI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)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: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Handles authentication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Stores and analyses data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Exposes functionality via REST endpoints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solidFill>
                  <a:srgbClr val="000000"/>
                </a:solidFill>
              </a:rPr>
              <a:t>D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atabase 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(AWS RDS):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Stores structured health data (PostgreSQL)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Is never accessed directly by the frontend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B576E3FA-41A2-66F9-5727-8375079BEC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3" name="Picture 12" descr="A black cat in a circle&#10;&#10;AI-generated content may be incorrect.">
            <a:extLst>
              <a:ext uri="{FF2B5EF4-FFF2-40B4-BE49-F238E27FC236}">
                <a16:creationId xmlns:a16="http://schemas.microsoft.com/office/drawing/2014/main" id="{E652B23C-BD49-9751-7322-E41CA8BE9E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1938" y="1402534"/>
            <a:ext cx="1451877" cy="145187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1C24362-28D8-6DC9-29DB-4E3B61AD9C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6379" y="3028874"/>
            <a:ext cx="1405559" cy="125228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8588F48-E80D-FAC2-B7B3-D648798BA2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3709" y="4938514"/>
            <a:ext cx="1718342" cy="1412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0DB46A-D753-CCD5-4BBB-1EEDFAC2B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BC37959-0039-91D3-A418-11595CC94AAC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SQL Database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F18C4C5-78C8-2B18-1181-57673153F0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3989072"/>
              </p:ext>
            </p:extLst>
          </p:nvPr>
        </p:nvGraphicFramePr>
        <p:xfrm>
          <a:off x="9112647" y="2657183"/>
          <a:ext cx="17125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2500">
                  <a:extLst>
                    <a:ext uri="{9D8B030D-6E8A-4147-A177-3AD203B41FA5}">
                      <a16:colId xmlns:a16="http://schemas.microsoft.com/office/drawing/2014/main" val="2782886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Allergens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4250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4866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37480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Name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2395480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19D03C1-6DA9-2554-3718-188890D95F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802825"/>
              </p:ext>
            </p:extLst>
          </p:nvPr>
        </p:nvGraphicFramePr>
        <p:xfrm>
          <a:off x="522908" y="2483121"/>
          <a:ext cx="1582550" cy="2392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2550">
                  <a:extLst>
                    <a:ext uri="{9D8B030D-6E8A-4147-A177-3AD203B41FA5}">
                      <a16:colId xmlns:a16="http://schemas.microsoft.com/office/drawing/2014/main" val="2782886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Symptoms 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4250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83577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2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Name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23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Group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1812848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59FF834-59A5-0606-BF3B-4C160DC73C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1371957"/>
              </p:ext>
            </p:extLst>
          </p:nvPr>
        </p:nvGraphicFramePr>
        <p:xfrm>
          <a:off x="4853475" y="1359243"/>
          <a:ext cx="2032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Users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4652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Email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6667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Password Hash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526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Created At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4059489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59E3E59-0949-C8B7-E913-512FBD3B0E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3865260"/>
              </p:ext>
            </p:extLst>
          </p:nvPr>
        </p:nvGraphicFramePr>
        <p:xfrm>
          <a:off x="9112647" y="5245489"/>
          <a:ext cx="2032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Units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09624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Name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17538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Conversion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5528481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FF90B8C-2071-6BB5-A8D1-F0D833B3A3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003933"/>
              </p:ext>
            </p:extLst>
          </p:nvPr>
        </p:nvGraphicFramePr>
        <p:xfrm>
          <a:off x="3345478" y="3615024"/>
          <a:ext cx="2155568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5568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Log 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Log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1172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6316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Date / Time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55521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3901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Intensity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8060170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C7FF6DBE-30FB-06C5-8809-23819052EF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6804843"/>
              </p:ext>
            </p:extLst>
          </p:nvPr>
        </p:nvGraphicFramePr>
        <p:xfrm>
          <a:off x="6260524" y="3622640"/>
          <a:ext cx="1796307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6307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Log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Log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5099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6369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Date / Time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3068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91982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Quantity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69776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0431168"/>
                  </a:ext>
                </a:extLst>
              </a:tr>
            </a:tbl>
          </a:graphicData>
        </a:graphic>
      </p:graphicFrame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C49F3B3-6FC7-762B-DC52-FA2507252DDB}"/>
              </a:ext>
            </a:extLst>
          </p:cNvPr>
          <p:cNvCxnSpPr>
            <a:cxnSpLocks/>
          </p:cNvCxnSpPr>
          <p:nvPr/>
        </p:nvCxnSpPr>
        <p:spPr>
          <a:xfrm>
            <a:off x="2210029" y="4021373"/>
            <a:ext cx="957201" cy="1198605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4498BE6-979F-90A6-004E-A01E0EE1BED1}"/>
              </a:ext>
            </a:extLst>
          </p:cNvPr>
          <p:cNvCxnSpPr>
            <a:cxnSpLocks/>
          </p:cNvCxnSpPr>
          <p:nvPr/>
        </p:nvCxnSpPr>
        <p:spPr>
          <a:xfrm flipH="1">
            <a:off x="5567192" y="3311890"/>
            <a:ext cx="433756" cy="1193071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7D09BC5-C6DA-4AA6-0FAF-6E61F89C3768}"/>
              </a:ext>
            </a:extLst>
          </p:cNvPr>
          <p:cNvCxnSpPr>
            <a:cxnSpLocks/>
          </p:cNvCxnSpPr>
          <p:nvPr/>
        </p:nvCxnSpPr>
        <p:spPr>
          <a:xfrm flipH="1">
            <a:off x="8162995" y="3504329"/>
            <a:ext cx="799785" cy="1715649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33BA430-899F-5CD4-C1E4-7CB5E76C9CC3}"/>
              </a:ext>
            </a:extLst>
          </p:cNvPr>
          <p:cNvCxnSpPr>
            <a:cxnSpLocks/>
          </p:cNvCxnSpPr>
          <p:nvPr/>
        </p:nvCxnSpPr>
        <p:spPr>
          <a:xfrm flipH="1">
            <a:off x="8162995" y="5380616"/>
            <a:ext cx="799785" cy="606553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AC3B1128-CB40-11F4-3563-FF14E25F9312}"/>
              </a:ext>
            </a:extLst>
          </p:cNvPr>
          <p:cNvCxnSpPr>
            <a:cxnSpLocks/>
          </p:cNvCxnSpPr>
          <p:nvPr/>
        </p:nvCxnSpPr>
        <p:spPr>
          <a:xfrm>
            <a:off x="5988910" y="3311890"/>
            <a:ext cx="165450" cy="1237876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813085C-86D3-3994-35F4-E5328AD24BF9}"/>
              </a:ext>
            </a:extLst>
          </p:cNvPr>
          <p:cNvCxnSpPr>
            <a:cxnSpLocks/>
          </p:cNvCxnSpPr>
          <p:nvPr/>
        </p:nvCxnSpPr>
        <p:spPr>
          <a:xfrm flipH="1">
            <a:off x="2209860" y="1689807"/>
            <a:ext cx="2430280" cy="1622083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77267BF-54E2-DCA4-0348-08A0FBEEC07A}"/>
              </a:ext>
            </a:extLst>
          </p:cNvPr>
          <p:cNvCxnSpPr>
            <a:cxnSpLocks/>
          </p:cNvCxnSpPr>
          <p:nvPr/>
        </p:nvCxnSpPr>
        <p:spPr>
          <a:xfrm>
            <a:off x="7098810" y="1632605"/>
            <a:ext cx="1863970" cy="1766258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2133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F3EFA4-EDA0-2A60-96B2-EC02FF6A1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3C209EE-D218-1B43-B5BE-34670DE963CC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Logging in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2239CF6-F744-EC6B-DD48-07B0B9F771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4406790"/>
              </p:ext>
            </p:extLst>
          </p:nvPr>
        </p:nvGraphicFramePr>
        <p:xfrm>
          <a:off x="7949971" y="2650761"/>
          <a:ext cx="2032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Users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4652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Email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6667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Password Hash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526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Created At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4059489"/>
                  </a:ext>
                </a:extLst>
              </a:tr>
            </a:tbl>
          </a:graphicData>
        </a:graphic>
      </p:graphicFrame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78FE84BD-58BA-08FC-1B46-7DDACAEFD9C0}"/>
              </a:ext>
            </a:extLst>
          </p:cNvPr>
          <p:cNvCxnSpPr>
            <a:cxnSpLocks/>
          </p:cNvCxnSpPr>
          <p:nvPr/>
        </p:nvCxnSpPr>
        <p:spPr>
          <a:xfrm>
            <a:off x="7166919" y="3579634"/>
            <a:ext cx="531340" cy="0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1EE2A3D2-2D26-EDB2-771E-B6A086F25A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88" t="11353" r="1762" b="28019"/>
          <a:stretch>
            <a:fillRect/>
          </a:stretch>
        </p:blipFill>
        <p:spPr>
          <a:xfrm>
            <a:off x="1680519" y="1940017"/>
            <a:ext cx="5103340" cy="31015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004772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4695B1-848D-79A3-A070-29AB6CEBB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C00B419F-40EC-F94D-CE81-6A254426BB6F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Logging an exposure to an allergen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4B97D7A3-0FE4-4B51-B30E-DBB17CC3291B}"/>
              </a:ext>
            </a:extLst>
          </p:cNvPr>
          <p:cNvCxnSpPr>
            <a:cxnSpLocks/>
          </p:cNvCxnSpPr>
          <p:nvPr/>
        </p:nvCxnSpPr>
        <p:spPr>
          <a:xfrm>
            <a:off x="7963931" y="3664088"/>
            <a:ext cx="654908" cy="0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838FF0A5-1B0A-759B-06DE-7F8B3252AF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4307637"/>
              </p:ext>
            </p:extLst>
          </p:nvPr>
        </p:nvGraphicFramePr>
        <p:xfrm>
          <a:off x="9028437" y="2522889"/>
          <a:ext cx="1796307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6307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Log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Log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5099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6369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Date / Time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3068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91982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Quantity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69776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0431168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2D824A6D-DC18-04E4-29FC-86069DA803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1661" y="1643743"/>
            <a:ext cx="5980996" cy="4630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0324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CAFB3F-8809-FF07-CC4A-A00319034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4015F68-F47F-98EC-859B-1098785FE499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Logging a symptom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9845FF3A-4DF3-F4BE-0B3C-BC7EA0A927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4547889"/>
              </p:ext>
            </p:extLst>
          </p:nvPr>
        </p:nvGraphicFramePr>
        <p:xfrm>
          <a:off x="9165511" y="2795905"/>
          <a:ext cx="2155568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5568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Log 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Log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1172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6316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Date / Time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55521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3901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Intensity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8060170"/>
                  </a:ext>
                </a:extLst>
              </a:tr>
            </a:tbl>
          </a:graphicData>
        </a:graphic>
      </p:graphicFrame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A26AC78-030E-7816-369B-85CB6C3179FC}"/>
              </a:ext>
            </a:extLst>
          </p:cNvPr>
          <p:cNvCxnSpPr>
            <a:cxnSpLocks/>
          </p:cNvCxnSpPr>
          <p:nvPr/>
        </p:nvCxnSpPr>
        <p:spPr>
          <a:xfrm>
            <a:off x="7900239" y="4070800"/>
            <a:ext cx="835988" cy="0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DE05C979-2AD1-8A9C-F1E5-096B8B2037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1394" y="1558310"/>
            <a:ext cx="6194203" cy="5024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2178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D77DBB-19F0-9425-C4BB-BFA9455D8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4930678-7E5F-963C-B581-F2C820472EBE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Analysis - Goals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299418-EB91-361D-84EC-9BE362C47D1B}"/>
              </a:ext>
            </a:extLst>
          </p:cNvPr>
          <p:cNvSpPr txBox="1"/>
          <p:nvPr/>
        </p:nvSpPr>
        <p:spPr>
          <a:xfrm>
            <a:off x="1581664" y="1754659"/>
            <a:ext cx="9440561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lvl="1" indent="-457200"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User to gain a sense of their data through visual aids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altLang="en-US" sz="2800" dirty="0">
              <a:solidFill>
                <a:srgbClr val="000000"/>
              </a:solidFill>
              <a:cs typeface="Arial" panose="020B0604020202020204" pitchFamily="34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rgbClr val="000000"/>
                </a:solidFill>
                <a:cs typeface="Arial" panose="020B0604020202020204" pitchFamily="34" charset="0"/>
              </a:rPr>
              <a:t>User to discover most likely allergen triggering symptoms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altLang="en-US" sz="2800" dirty="0">
              <a:solidFill>
                <a:srgbClr val="000000"/>
              </a:solidFill>
              <a:cs typeface="Arial" panose="020B0604020202020204" pitchFamily="34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rgbClr val="000000"/>
                </a:solidFill>
                <a:cs typeface="Arial" panose="020B0604020202020204" pitchFamily="34" charset="0"/>
              </a:rPr>
              <a:t>User to dive deeper into a particular allergen, time window and grouped symptoms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Risk assessment of allergen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rgbClr val="000000"/>
                </a:solidFill>
                <a:cs typeface="Arial" panose="020B0604020202020204" pitchFamily="34" charset="0"/>
              </a:rPr>
              <a:t>Time series visual aid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Dose – response </a:t>
            </a:r>
            <a:r>
              <a:rPr lang="en-US" altLang="en-US" sz="2800" dirty="0">
                <a:solidFill>
                  <a:srgbClr val="000000"/>
                </a:solidFill>
                <a:cs typeface="Arial" panose="020B0604020202020204" pitchFamily="34" charset="0"/>
              </a:rPr>
              <a:t>analysis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09214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2DF894-C6E0-289E-99BB-69C5C008C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30119BD-16B2-4DC6-5F55-3BDDDF23C69F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Analysis - Challenges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16101B1-D044-3CFA-6F79-3771D4A57B2F}"/>
                  </a:ext>
                </a:extLst>
              </p:cNvPr>
              <p:cNvSpPr txBox="1"/>
              <p:nvPr/>
            </p:nvSpPr>
            <p:spPr>
              <a:xfrm>
                <a:off x="1099752" y="1359243"/>
                <a:ext cx="10441458" cy="52629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Small Sample Size </a:t>
                </a:r>
              </a:p>
              <a:p>
                <a:pPr lvl="1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	3 years of daily symptoms </a:t>
                </a:r>
                <a14:m>
                  <m:oMath xmlns:m="http://schemas.openxmlformats.org/officeDocument/2006/math">
                    <m:r>
                      <a:rPr kumimoji="0" lang="en-US" altLang="en-US" sz="2800" b="0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1000 samples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Class imbalance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2800" dirty="0"/>
                  <a:t>	No. allergen logs  &gt;&gt;  No. symptom logs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Temporal uncertainty</a:t>
                </a:r>
                <a:endParaRPr lang="en-US" altLang="en-US" sz="2800" dirty="0"/>
              </a:p>
              <a:p>
                <a:pPr lvl="1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2800" dirty="0"/>
                  <a:t>	</a:t>
                </a: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Symptoms occurs hours or days after exposure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lang="en-US" altLang="en-US" sz="2800" dirty="0"/>
                  <a:t>Allergens / symptoms often co-occur</a:t>
                </a:r>
              </a:p>
              <a:p>
                <a:pPr lvl="1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2800" dirty="0"/>
                  <a:t>	Pie = dairy and gluten</a:t>
                </a:r>
              </a:p>
              <a:p>
                <a:pPr lvl="1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2800" dirty="0"/>
                  <a:t>	Headache often with nausea and fatigue</a:t>
                </a:r>
              </a:p>
              <a:p>
                <a:pPr marL="45720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lang="en-US" altLang="en-US" sz="2800" dirty="0"/>
                  <a:t>Relies on user entering quality data</a:t>
                </a:r>
              </a:p>
              <a:p>
                <a:pPr marL="45720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lang="en-US" altLang="en-US" sz="2800" dirty="0"/>
                  <a:t>Non stationarity</a:t>
                </a:r>
              </a:p>
              <a:p>
                <a:pPr lvl="1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2800" dirty="0"/>
                  <a:t>	User sensitivity changes over time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16101B1-D044-3CFA-6F79-3771D4A57B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9752" y="1359243"/>
                <a:ext cx="10441458" cy="5262979"/>
              </a:xfrm>
              <a:prstGeom prst="rect">
                <a:avLst/>
              </a:prstGeom>
              <a:blipFill>
                <a:blip r:embed="rId3"/>
                <a:stretch>
                  <a:fillRect l="-1215" t="-1446" b="-21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066250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5AFA8C-ED1F-7E0A-4F54-4F7CBAB96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C73F7A2-40C9-DE52-E796-ACEB83A3B07B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Linking allergens and symptoms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29A38A0-6C08-92F1-2856-EDFD5DF2B8CC}"/>
              </a:ext>
            </a:extLst>
          </p:cNvPr>
          <p:cNvSpPr/>
          <p:nvPr/>
        </p:nvSpPr>
        <p:spPr>
          <a:xfrm>
            <a:off x="4725202" y="3059956"/>
            <a:ext cx="2333307" cy="16029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Logistic Regression Model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03F7675-2B35-4B81-46DB-11547A1F7AC6}"/>
              </a:ext>
            </a:extLst>
          </p:cNvPr>
          <p:cNvSpPr/>
          <p:nvPr/>
        </p:nvSpPr>
        <p:spPr>
          <a:xfrm>
            <a:off x="1261824" y="1833150"/>
            <a:ext cx="2545492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Features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F2363D2-D459-9D8B-D8DF-575450F34BBA}"/>
              </a:ext>
            </a:extLst>
          </p:cNvPr>
          <p:cNvSpPr/>
          <p:nvPr/>
        </p:nvSpPr>
        <p:spPr>
          <a:xfrm>
            <a:off x="339168" y="3144149"/>
            <a:ext cx="2545492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Target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D7985C-277B-CEEA-E054-7F1B2215490A}"/>
              </a:ext>
            </a:extLst>
          </p:cNvPr>
          <p:cNvSpPr txBox="1"/>
          <p:nvPr/>
        </p:nvSpPr>
        <p:spPr>
          <a:xfrm>
            <a:off x="1702583" y="2573738"/>
            <a:ext cx="1105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Allergens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C144B6-FC2C-D8EB-535F-16D183087F47}"/>
              </a:ext>
            </a:extLst>
          </p:cNvPr>
          <p:cNvSpPr txBox="1"/>
          <p:nvPr/>
        </p:nvSpPr>
        <p:spPr>
          <a:xfrm>
            <a:off x="579676" y="3829224"/>
            <a:ext cx="20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Symptoms present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87DDB36-3E32-CCE1-01FE-5DE5B418DD59}"/>
              </a:ext>
            </a:extLst>
          </p:cNvPr>
          <p:cNvCxnSpPr>
            <a:cxnSpLocks/>
          </p:cNvCxnSpPr>
          <p:nvPr/>
        </p:nvCxnSpPr>
        <p:spPr>
          <a:xfrm>
            <a:off x="3086100" y="3588493"/>
            <a:ext cx="1448859" cy="3323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D530408-A509-598E-4983-9AA2D5C5705E}"/>
              </a:ext>
            </a:extLst>
          </p:cNvPr>
          <p:cNvCxnSpPr>
            <a:cxnSpLocks/>
          </p:cNvCxnSpPr>
          <p:nvPr/>
        </p:nvCxnSpPr>
        <p:spPr>
          <a:xfrm flipV="1">
            <a:off x="3382599" y="4430493"/>
            <a:ext cx="1220337" cy="23245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4034A175-0C4F-C69F-AA63-324072184F64}"/>
              </a:ext>
            </a:extLst>
          </p:cNvPr>
          <p:cNvSpPr/>
          <p:nvPr/>
        </p:nvSpPr>
        <p:spPr>
          <a:xfrm>
            <a:off x="7320710" y="2105081"/>
            <a:ext cx="2545492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Coefficients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034FEDA-2760-3EE1-6C05-CDF56256E0E3}"/>
              </a:ext>
            </a:extLst>
          </p:cNvPr>
          <p:cNvCxnSpPr>
            <a:cxnSpLocks/>
          </p:cNvCxnSpPr>
          <p:nvPr/>
        </p:nvCxnSpPr>
        <p:spPr>
          <a:xfrm flipV="1">
            <a:off x="6627654" y="2655703"/>
            <a:ext cx="621098" cy="49289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716DF29D-86E7-1E35-3FD0-03F76FDF57DE}"/>
              </a:ext>
            </a:extLst>
          </p:cNvPr>
          <p:cNvSpPr txBox="1"/>
          <p:nvPr/>
        </p:nvSpPr>
        <p:spPr>
          <a:xfrm>
            <a:off x="8288573" y="2930769"/>
            <a:ext cx="1290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Odds Ratio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77920AB-F1B1-31F6-EFD0-72686EC0EC3A}"/>
              </a:ext>
            </a:extLst>
          </p:cNvPr>
          <p:cNvSpPr txBox="1"/>
          <p:nvPr/>
        </p:nvSpPr>
        <p:spPr>
          <a:xfrm>
            <a:off x="932173" y="5270587"/>
            <a:ext cx="25726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Regularisation</a:t>
            </a:r>
            <a:r>
              <a:rPr lang="en-US" dirty="0"/>
              <a:t> (L1 or L2)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48578DB-9FC3-A8B1-FC8A-6AE9C800662C}"/>
              </a:ext>
            </a:extLst>
          </p:cNvPr>
          <p:cNvCxnSpPr>
            <a:cxnSpLocks/>
          </p:cNvCxnSpPr>
          <p:nvPr/>
        </p:nvCxnSpPr>
        <p:spPr>
          <a:xfrm>
            <a:off x="5303933" y="3588493"/>
            <a:ext cx="0" cy="3227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F5892E4A-951F-8551-B939-03B02AEC088D}"/>
              </a:ext>
            </a:extLst>
          </p:cNvPr>
          <p:cNvSpPr txBox="1"/>
          <p:nvPr/>
        </p:nvSpPr>
        <p:spPr>
          <a:xfrm>
            <a:off x="945699" y="6009251"/>
            <a:ext cx="17469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Class weighting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A86CAF7-0356-FC32-8115-67C5C9FD1708}"/>
              </a:ext>
            </a:extLst>
          </p:cNvPr>
          <p:cNvSpPr txBox="1"/>
          <p:nvPr/>
        </p:nvSpPr>
        <p:spPr>
          <a:xfrm>
            <a:off x="952143" y="5639919"/>
            <a:ext cx="25213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Nested cross validation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872644E-FD35-BBC6-4A52-2C87511D2A8C}"/>
              </a:ext>
            </a:extLst>
          </p:cNvPr>
          <p:cNvCxnSpPr>
            <a:cxnSpLocks/>
          </p:cNvCxnSpPr>
          <p:nvPr/>
        </p:nvCxnSpPr>
        <p:spPr>
          <a:xfrm>
            <a:off x="3807316" y="2512772"/>
            <a:ext cx="1135934" cy="728452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E34583F8-32EE-7CA6-A877-23D49B592E2D}"/>
              </a:ext>
            </a:extLst>
          </p:cNvPr>
          <p:cNvSpPr/>
          <p:nvPr/>
        </p:nvSpPr>
        <p:spPr>
          <a:xfrm>
            <a:off x="837107" y="4515319"/>
            <a:ext cx="2545492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Modelling Techniques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019E6393-321F-FE06-FA50-D6C46CDFFAE9}"/>
              </a:ext>
            </a:extLst>
          </p:cNvPr>
          <p:cNvSpPr/>
          <p:nvPr/>
        </p:nvSpPr>
        <p:spPr>
          <a:xfrm>
            <a:off x="7679573" y="3750871"/>
            <a:ext cx="1542580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Metrics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0F0BFE38-1920-BE36-BA2A-39EEE3905274}"/>
              </a:ext>
            </a:extLst>
          </p:cNvPr>
          <p:cNvCxnSpPr>
            <a:cxnSpLocks/>
          </p:cNvCxnSpPr>
          <p:nvPr/>
        </p:nvCxnSpPr>
        <p:spPr>
          <a:xfrm>
            <a:off x="7140154" y="3998804"/>
            <a:ext cx="425958" cy="116419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78F2128A-70A5-5517-22A4-AE3DC729A1D2}"/>
              </a:ext>
            </a:extLst>
          </p:cNvPr>
          <p:cNvSpPr txBox="1"/>
          <p:nvPr/>
        </p:nvSpPr>
        <p:spPr>
          <a:xfrm>
            <a:off x="8278846" y="4562463"/>
            <a:ext cx="21481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Allergen separation </a:t>
            </a:r>
          </a:p>
          <a:p>
            <a:r>
              <a:rPr lang="en-US" dirty="0"/>
              <a:t>(ROC AUC)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6A738E1-430D-9164-4551-8FEA15DCCE7E}"/>
              </a:ext>
            </a:extLst>
          </p:cNvPr>
          <p:cNvSpPr txBox="1"/>
          <p:nvPr/>
        </p:nvSpPr>
        <p:spPr>
          <a:xfrm>
            <a:off x="8278846" y="5146790"/>
            <a:ext cx="8084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Recall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A5E9315-0728-1660-C834-46BC4444C099}"/>
              </a:ext>
            </a:extLst>
          </p:cNvPr>
          <p:cNvSpPr txBox="1"/>
          <p:nvPr/>
        </p:nvSpPr>
        <p:spPr>
          <a:xfrm>
            <a:off x="8288573" y="5479622"/>
            <a:ext cx="1378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Sample size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4B34C27-2B7E-3AC8-E8A9-B454FDD086BD}"/>
              </a:ext>
            </a:extLst>
          </p:cNvPr>
          <p:cNvSpPr txBox="1"/>
          <p:nvPr/>
        </p:nvSpPr>
        <p:spPr>
          <a:xfrm>
            <a:off x="8288573" y="5784417"/>
            <a:ext cx="2431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Allergen co-</a:t>
            </a:r>
            <a:r>
              <a:rPr lang="en-US" dirty="0" err="1"/>
              <a:t>occurence</a:t>
            </a:r>
            <a:endParaRPr lang="en-US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765B2A3-BACC-86D1-DF26-E425BD306117}"/>
              </a:ext>
            </a:extLst>
          </p:cNvPr>
          <p:cNvSpPr txBox="1"/>
          <p:nvPr/>
        </p:nvSpPr>
        <p:spPr>
          <a:xfrm>
            <a:off x="8288573" y="6119336"/>
            <a:ext cx="22460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Confidence intervals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784A9B45-EB85-52F2-19F8-14EB741CF3B2}"/>
              </a:ext>
            </a:extLst>
          </p:cNvPr>
          <p:cNvSpPr txBox="1"/>
          <p:nvPr/>
        </p:nvSpPr>
        <p:spPr>
          <a:xfrm>
            <a:off x="8288573" y="6422044"/>
            <a:ext cx="2160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Collinearity warning</a:t>
            </a:r>
          </a:p>
        </p:txBody>
      </p:sp>
    </p:spTree>
    <p:extLst>
      <p:ext uri="{BB962C8B-B14F-4D97-AF65-F5344CB8AC3E}">
        <p14:creationId xmlns:p14="http://schemas.microsoft.com/office/powerpoint/2010/main" val="40322679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85023-9A92-88E4-E1C9-DA1F12F55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A09FA81-6F4B-0A7C-495D-871D88560621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Deep Dive into Modelling Technique</a:t>
            </a:r>
          </a:p>
        </p:txBody>
      </p:sp>
      <p:sp>
        <p:nvSpPr>
          <p:cNvPr id="13" name="Rectangle 1">
            <a:extLst>
              <a:ext uri="{FF2B5EF4-FFF2-40B4-BE49-F238E27FC236}">
                <a16:creationId xmlns:a16="http://schemas.microsoft.com/office/drawing/2014/main" id="{23B8B577-F1E4-9097-38C8-AD94DCE3EB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0250" y="2090173"/>
            <a:ext cx="10731500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Goal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8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Identify allergens most strongly associated with symptom occurrence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</a:b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⟺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allergens with the largest positive logistic regression coefficients (highest odds ratios)</a:t>
            </a:r>
            <a:endParaRPr kumimoji="0" lang="en-US" altLang="en-US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392973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582E71-F3EF-0D17-4EA0-61A1D7C87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58A72F25-FF0A-0040-9031-A008B4BC0163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Deep Dive into Modelling Technique</a:t>
            </a:r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08E5877B-6412-5201-12F2-8835386012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3386" y="1359243"/>
            <a:ext cx="10871200" cy="52937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Model selection &amp; fitting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Evaluate multiple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exposure–symptom time windows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to account for delayed responses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Assess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class imbalance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using the proportion of symptom events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Fit a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regularized logistic regression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model: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Penalties: L1 and L2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Regularization strength: C ∈ {0.1,1,10}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Select the best model using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ROC AUC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Use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5-fold cross-validation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to estimate: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Mean ROC AUC (discrimination)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Mean recall (sensitivity to symptom events)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60272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EBB6B4-05C9-C7D6-DE9F-E6B3C86E9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0580401-A923-5C59-9D95-D8FE4343316E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Deep Dive into Modelling Technique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1D936C6C-9B9D-3B54-1274-9CDBA718B8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8990" y="1631351"/>
            <a:ext cx="8001871" cy="43704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Outputs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40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Odds ratios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for each allergen</a:t>
            </a:r>
            <a:r>
              <a:rPr lang="en-US" altLang="en-US" sz="2000" dirty="0">
                <a:solidFill>
                  <a:srgbClr val="000000"/>
                </a:solidFill>
              </a:rPr>
              <a:t>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(OR=eβ)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identifying allergens with the highest odds of symptom occurrence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Model reliability metrics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ROC AUC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Recall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Sample size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Collinearity indicator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Confidence intervals for odds ratios using bootstrap resampling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396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60CDB5-289E-3C75-6B4D-95AADBF3B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483968C7-362B-87B3-57C9-51F00968D051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Validation: Synthetic User and Data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E8DD836-5836-0914-F1EA-E76BBA1CFA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4700" y="2037138"/>
            <a:ext cx="10172700" cy="31393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Goal:</a:t>
            </a:r>
            <a:r>
              <a:rPr lang="en-US" altLang="en-US" dirty="0">
                <a:solidFill>
                  <a:srgbClr val="000000"/>
                </a:solidFill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Evaluate allergen–symptom models using data with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known causal relationships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Causal allergens: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Dairy, Peanuts, Shellfish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dirty="0">
              <a:solidFill>
                <a:srgbClr val="000000"/>
              </a:solidFill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Intensity:</a:t>
            </a:r>
            <a:r>
              <a:rPr lang="en-US" altLang="en-US" dirty="0">
                <a:solidFill>
                  <a:srgbClr val="000000"/>
                </a:solidFill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Peanuts include a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dose–response effect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b="1" dirty="0">
              <a:solidFill>
                <a:srgbClr val="000000"/>
              </a:solidFill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Colinearity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: 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Dairy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Contains both positive and negative examples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dirty="0">
                <a:solidFill>
                  <a:srgbClr val="000000"/>
                </a:solidFill>
              </a:rPr>
              <a:t>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rue signal is known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Tests whether models detect real associations, handle imbalance, and avoid false positives</a:t>
            </a:r>
          </a:p>
        </p:txBody>
      </p:sp>
    </p:spTree>
    <p:extLst>
      <p:ext uri="{BB962C8B-B14F-4D97-AF65-F5344CB8AC3E}">
        <p14:creationId xmlns:p14="http://schemas.microsoft.com/office/powerpoint/2010/main" val="2128286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C36AC6-3E68-BA38-2A09-22A83FC7C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C83C747-3615-3FD0-BF71-C4A359A5E9BD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Validation: Synthetic User and Data</a:t>
            </a:r>
          </a:p>
        </p:txBody>
      </p:sp>
      <p:pic>
        <p:nvPicPr>
          <p:cNvPr id="12290" name="Picture 2" descr="Allergen Rank Plot">
            <a:extLst>
              <a:ext uri="{FF2B5EF4-FFF2-40B4-BE49-F238E27FC236}">
                <a16:creationId xmlns:a16="http://schemas.microsoft.com/office/drawing/2014/main" id="{CFE3D16A-0140-38D9-9671-B619937B971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31" r="-1366" b="50776"/>
          <a:stretch>
            <a:fillRect/>
          </a:stretch>
        </p:blipFill>
        <p:spPr bwMode="auto">
          <a:xfrm>
            <a:off x="825500" y="1359243"/>
            <a:ext cx="10500651" cy="4838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45864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B4EAF9-A3C2-047F-036B-64501A2F5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6C417A2-ED69-F90C-9E43-DE2502737417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Exploring the App Further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D64011-62A5-1EF0-B637-A05753486720}"/>
              </a:ext>
            </a:extLst>
          </p:cNvPr>
          <p:cNvSpPr txBox="1"/>
          <p:nvPr/>
        </p:nvSpPr>
        <p:spPr>
          <a:xfrm>
            <a:off x="4978400" y="2686735"/>
            <a:ext cx="2476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food_body_connection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29292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E1388C-903E-BB8F-7547-BCFA0649B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B550DA29-DE52-F16F-C516-3430F0D21DCA}"/>
              </a:ext>
            </a:extLst>
          </p:cNvPr>
          <p:cNvSpPr txBox="1">
            <a:spLocks/>
          </p:cNvSpPr>
          <p:nvPr/>
        </p:nvSpPr>
        <p:spPr>
          <a:xfrm>
            <a:off x="0" y="583918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E549578B-F034-A209-8725-EB69BFA225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80091" y="1359243"/>
            <a:ext cx="9672841" cy="52937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lang="en-US" altLang="en-US" sz="2000" b="1" dirty="0">
                <a:solidFill>
                  <a:srgbClr val="000000"/>
                </a:solidFill>
              </a:rPr>
              <a:t>Target audience: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altLang="en-US" sz="2000" dirty="0">
                <a:solidFill>
                  <a:srgbClr val="000000"/>
                </a:solidFill>
              </a:rPr>
              <a:t>Health practitioners and individuals with chronic symptoms linked to allergens</a:t>
            </a:r>
          </a:p>
          <a:p>
            <a:pPr lvl="0"/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lvl="0"/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User Benefit: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Makes hidden food–body connections visible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Empowers users to make informed dietary and lifestyle choices</a:t>
            </a:r>
          </a:p>
          <a:p>
            <a:pPr lvl="0"/>
            <a:endParaRPr lang="en-US" altLang="en-US" sz="2000" dirty="0">
              <a:solidFill>
                <a:srgbClr val="000000"/>
              </a:solidFill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Key Features: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Track exposures and symptoms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Analyze relationships: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Identify correlations between exposures and symptoms.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Insights &amp; reports: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Odds ratios, intensity charts, and personalized summaries.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Architecture: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Frontend: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Static web app (GitHub Pages) → sends requests to API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Backend: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FastAPI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→ handles authentication, data storage, analysis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Database: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PostgreSQL on AWS RDS → structured health data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7DDAA41-D4DA-349E-9798-862A507803CF}"/>
              </a:ext>
            </a:extLst>
          </p:cNvPr>
          <p:cNvSpPr txBox="1">
            <a:spLocks/>
          </p:cNvSpPr>
          <p:nvPr/>
        </p:nvSpPr>
        <p:spPr>
          <a:xfrm>
            <a:off x="-101600" y="583918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28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E92A20-F70F-F30C-AEE1-E58FBC6A605B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Summary: Food – Body Connection App</a:t>
            </a:r>
          </a:p>
        </p:txBody>
      </p:sp>
    </p:spTree>
    <p:extLst>
      <p:ext uri="{BB962C8B-B14F-4D97-AF65-F5344CB8AC3E}">
        <p14:creationId xmlns:p14="http://schemas.microsoft.com/office/powerpoint/2010/main" val="7428430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BA8B96-FE08-9D73-880D-C07EBFE46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AD7CE20C-08B6-3CA5-7BB8-E8E67018069C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Future 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B745D5-82D1-CABB-4314-FAEBC0C39973}"/>
              </a:ext>
            </a:extLst>
          </p:cNvPr>
          <p:cNvSpPr txBox="1"/>
          <p:nvPr/>
        </p:nvSpPr>
        <p:spPr>
          <a:xfrm>
            <a:off x="2251678" y="1173202"/>
            <a:ext cx="7775270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Analysis: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Spectral analysis on symptom events to track peak frequency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Introduce a new table – food, which automatically allocates allergens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App: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Introduce analysis on selected dates (to account for temporal shifts)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Allow users to log multiple allergens / symptoms per event</a:t>
            </a:r>
          </a:p>
          <a:p>
            <a:pPr lvl="1"/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Architecture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Move to alternative system – long term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</p:txBody>
      </p:sp>
      <p:pic>
        <p:nvPicPr>
          <p:cNvPr id="13" name="Picture 12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E8483EA7-D037-28A6-1D35-7DD70BC7E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6628" y="4261406"/>
            <a:ext cx="2251471" cy="225147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1779F78-4579-7C39-2623-FE0C8640B1A4}"/>
              </a:ext>
            </a:extLst>
          </p:cNvPr>
          <p:cNvSpPr txBox="1"/>
          <p:nvPr/>
        </p:nvSpPr>
        <p:spPr>
          <a:xfrm>
            <a:off x="4201499" y="4120466"/>
            <a:ext cx="7660302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	</a:t>
            </a:r>
          </a:p>
          <a:p>
            <a:r>
              <a:rPr lang="en-US" dirty="0"/>
              <a:t>	https://alkohout.github.io/food_body_connection/dashboard.html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	https://github.com/alkohout/food_body_connection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	https://</a:t>
            </a:r>
            <a:r>
              <a:rPr lang="en-US" dirty="0" err="1"/>
              <a:t>www.linkedin.com</a:t>
            </a:r>
            <a:r>
              <a:rPr lang="en-US" dirty="0"/>
              <a:t>/in/</a:t>
            </a:r>
            <a:r>
              <a:rPr lang="en-US" dirty="0" err="1"/>
              <a:t>alisonkohout</a:t>
            </a:r>
            <a:r>
              <a:rPr lang="en-US" dirty="0"/>
              <a:t>/</a:t>
            </a:r>
          </a:p>
        </p:txBody>
      </p:sp>
      <p:pic>
        <p:nvPicPr>
          <p:cNvPr id="3" name="Picture 2" descr="A black cat in a circle&#10;&#10;AI-generated content may be incorrect.">
            <a:extLst>
              <a:ext uri="{FF2B5EF4-FFF2-40B4-BE49-F238E27FC236}">
                <a16:creationId xmlns:a16="http://schemas.microsoft.com/office/drawing/2014/main" id="{DC3372F8-A232-A4B8-AE71-9D1D4B1659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9472" y="5098992"/>
            <a:ext cx="609600" cy="609600"/>
          </a:xfrm>
          <a:prstGeom prst="rect">
            <a:avLst/>
          </a:prstGeom>
        </p:spPr>
      </p:pic>
      <p:pic>
        <p:nvPicPr>
          <p:cNvPr id="1026" name="Picture 2" descr="Website Icon PNG Images, Vectors Free Download - Pngtree">
            <a:extLst>
              <a:ext uri="{FF2B5EF4-FFF2-40B4-BE49-F238E27FC236}">
                <a16:creationId xmlns:a16="http://schemas.microsoft.com/office/drawing/2014/main" id="{A7D99F08-9520-340F-1987-E4EA5D39ED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20333" y1="34500" x2="24500" y2="35000"/>
                        <a14:foregroundMark x1="29167" y1="21500" x2="26000" y2="23333"/>
                        <a14:foregroundMark x1="42167" y1="25917" x2="51167" y2="18750"/>
                        <a14:foregroundMark x1="51167" y1="18750" x2="55167" y2="22000"/>
                        <a14:foregroundMark x1="68750" y1="20167" x2="72917" y2="24333"/>
                        <a14:foregroundMark x1="75500" y1="36583" x2="82250" y2="44917"/>
                        <a14:foregroundMark x1="77583" y1="60500" x2="73917" y2="66750"/>
                        <a14:foregroundMark x1="37000" y1="61583" x2="61333" y2="60833"/>
                        <a14:foregroundMark x1="61333" y1="60833" x2="65333" y2="60833"/>
                        <a14:foregroundMark x1="19500" y1="61583" x2="24750" y2="57667"/>
                        <a14:foregroundMark x1="28417" y1="78000" x2="33833" y2="81667"/>
                        <a14:foregroundMark x1="43000" y1="75417" x2="61333" y2="76917"/>
                        <a14:foregroundMark x1="61333" y1="76917" x2="50750" y2="81667"/>
                        <a14:foregroundMark x1="50750" y1="81667" x2="50750" y2="81667"/>
                        <a14:foregroundMark x1="70833" y1="78500" x2="65583" y2="831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05201" y="4255910"/>
            <a:ext cx="758140" cy="758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inkedin logo png, Linkedin icon transparent png 18930480 PNG">
            <a:extLst>
              <a:ext uri="{FF2B5EF4-FFF2-40B4-BE49-F238E27FC236}">
                <a16:creationId xmlns:a16="http://schemas.microsoft.com/office/drawing/2014/main" id="{78EAF2FF-18C2-B91C-FE20-E5BDD91B1A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8523" y="5741945"/>
            <a:ext cx="971497" cy="971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35821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4274</TotalTime>
  <Words>834</Words>
  <Application>Microsoft Macintosh PowerPoint</Application>
  <PresentationFormat>Widescreen</PresentationFormat>
  <Paragraphs>219</Paragraphs>
  <Slides>19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Aptos</vt:lpstr>
      <vt:lpstr>Aptos Display</vt:lpstr>
      <vt:lpstr>Arial</vt:lpstr>
      <vt:lpstr>Cambria Math</vt:lpstr>
      <vt:lpstr>Office Theme</vt:lpstr>
      <vt:lpstr>Food – Body  Connection</vt:lpstr>
      <vt:lpstr>Target audience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alison kohout</dc:creator>
  <cp:lastModifiedBy>alison kohout</cp:lastModifiedBy>
  <cp:revision>26</cp:revision>
  <dcterms:created xsi:type="dcterms:W3CDTF">2026-02-02T17:08:18Z</dcterms:created>
  <dcterms:modified xsi:type="dcterms:W3CDTF">2026-02-07T02:59:04Z</dcterms:modified>
</cp:coreProperties>
</file>