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4a" ContentType="audi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81" r:id="rId12"/>
    <p:sldId id="273" r:id="rId13"/>
    <p:sldId id="274" r:id="rId14"/>
    <p:sldId id="276" r:id="rId15"/>
    <p:sldId id="275" r:id="rId16"/>
    <p:sldId id="277" r:id="rId17"/>
    <p:sldId id="278" r:id="rId18"/>
    <p:sldId id="280" r:id="rId19"/>
    <p:sldId id="263" r:id="rId20"/>
    <p:sldId id="28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96"/>
    <p:restoredTop sz="92109"/>
  </p:normalViewPr>
  <p:slideViewPr>
    <p:cSldViewPr snapToGrid="0">
      <p:cViewPr varScale="1">
        <p:scale>
          <a:sx n="104" d="100"/>
          <a:sy n="104" d="100"/>
        </p:scale>
        <p:origin x="8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8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8.png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.xml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3.m4a"/><Relationship Id="rId1" Type="http://schemas.microsoft.com/office/2007/relationships/media" Target="../media/media13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4.m4a"/><Relationship Id="rId1" Type="http://schemas.microsoft.com/office/2007/relationships/media" Target="../media/media14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5.m4a"/><Relationship Id="rId1" Type="http://schemas.microsoft.com/office/2007/relationships/media" Target="../media/media15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7485" y="3429000"/>
            <a:ext cx="5617029" cy="2387600"/>
          </a:xfrm>
          <a:solidFill>
            <a:schemeClr val="bg1">
              <a:alpha val="67136"/>
            </a:schemeClr>
          </a:solidFill>
          <a:effectLst>
            <a:softEdge rad="158395"/>
          </a:effectLst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  <p:pic>
        <p:nvPicPr>
          <p:cNvPr id="3" name="Picture 2" descr="A logo of a person with an apple and a fork&#10;&#10;AI-generated content may be incorrect.">
            <a:extLst>
              <a:ext uri="{FF2B5EF4-FFF2-40B4-BE49-F238E27FC236}">
                <a16:creationId xmlns:a16="http://schemas.microsoft.com/office/drawing/2014/main" id="{3FC1D791-65A2-050B-DCDC-B8656E8678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301" y="94344"/>
            <a:ext cx="4161971" cy="4161971"/>
          </a:xfrm>
          <a:prstGeom prst="rect">
            <a:avLst/>
          </a:prstGeom>
        </p:spPr>
      </p:pic>
      <p:pic>
        <p:nvPicPr>
          <p:cNvPr id="9" name="Audio 8">
            <a:extLst>
              <a:ext uri="{FF2B5EF4-FFF2-40B4-BE49-F238E27FC236}">
                <a16:creationId xmlns:a16="http://schemas.microsoft.com/office/drawing/2014/main" id="{6BECCB89-33C4-C309-963C-E0FCD53C8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6060"/>
    </mc:Choice>
    <mc:Fallback>
      <p:transition spd="slow" advTm="760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  <p:pic>
        <p:nvPicPr>
          <p:cNvPr id="6" name="Audio 5">
            <a:extLst>
              <a:ext uri="{FF2B5EF4-FFF2-40B4-BE49-F238E27FC236}">
                <a16:creationId xmlns:a16="http://schemas.microsoft.com/office/drawing/2014/main" id="{3AA39C68-1A37-F06C-3959-C4C8B2B33ED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160"/>
    </mc:Choice>
    <mc:Fallback>
      <p:transition spd="slow" advTm="451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pic>
        <p:nvPicPr>
          <p:cNvPr id="5" name="Audio 4">
            <a:extLst>
              <a:ext uri="{FF2B5EF4-FFF2-40B4-BE49-F238E27FC236}">
                <a16:creationId xmlns:a16="http://schemas.microsoft.com/office/drawing/2014/main" id="{87338D94-DF2C-0C53-7FEB-349FBB75E0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100"/>
    </mc:Choice>
    <mc:Fallback>
      <p:transition spd="slow" advTm="201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  <p:pic>
        <p:nvPicPr>
          <p:cNvPr id="8" name="Audio 7">
            <a:extLst>
              <a:ext uri="{FF2B5EF4-FFF2-40B4-BE49-F238E27FC236}">
                <a16:creationId xmlns:a16="http://schemas.microsoft.com/office/drawing/2014/main" id="{1954CE6E-0E45-ACF6-092B-67D06A24A43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520"/>
    </mc:Choice>
    <mc:Fallback>
      <p:transition spd="slow" advTm="345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Audio 20">
            <a:extLst>
              <a:ext uri="{FF2B5EF4-FFF2-40B4-BE49-F238E27FC236}">
                <a16:creationId xmlns:a16="http://schemas.microsoft.com/office/drawing/2014/main" id="{F6F1BE8A-6B30-37D0-AA2F-5CA2F49B82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580"/>
    </mc:Choice>
    <mc:Fallback>
      <p:transition spd="slow" advTm="5058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Audio 6">
            <a:extLst>
              <a:ext uri="{FF2B5EF4-FFF2-40B4-BE49-F238E27FC236}">
                <a16:creationId xmlns:a16="http://schemas.microsoft.com/office/drawing/2014/main" id="{1F3CD520-B087-EFFC-7265-53E1485B6B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20"/>
    </mc:Choice>
    <mc:Fallback>
      <p:transition spd="slow" advTm="120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7243124-237B-07DC-7BC1-9BC308246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740" y="1618734"/>
            <a:ext cx="6710392" cy="4917825"/>
          </a:xfrm>
          <a:prstGeom prst="rect">
            <a:avLst/>
          </a:prstGeom>
        </p:spPr>
      </p:pic>
      <p:pic>
        <p:nvPicPr>
          <p:cNvPr id="10" name="Audio 9">
            <a:extLst>
              <a:ext uri="{FF2B5EF4-FFF2-40B4-BE49-F238E27FC236}">
                <a16:creationId xmlns:a16="http://schemas.microsoft.com/office/drawing/2014/main" id="{38B1D0F4-AD05-6BA3-653F-2694CA056DE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320"/>
    </mc:Choice>
    <mc:Fallback>
      <p:transition spd="slow" advTm="173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EFEE5D-4D90-9F92-9441-2C36A3D9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719" y="1359243"/>
            <a:ext cx="6640691" cy="5340221"/>
          </a:xfrm>
          <a:prstGeom prst="rect">
            <a:avLst/>
          </a:prstGeom>
        </p:spPr>
      </p:pic>
      <p:pic>
        <p:nvPicPr>
          <p:cNvPr id="8" name="Audio 7">
            <a:extLst>
              <a:ext uri="{FF2B5EF4-FFF2-40B4-BE49-F238E27FC236}">
                <a16:creationId xmlns:a16="http://schemas.microsoft.com/office/drawing/2014/main" id="{7C3D3957-35BB-16A5-2584-E3235986EA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720"/>
    </mc:Choice>
    <mc:Fallback>
      <p:transition spd="slow" advTm="77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pic>
        <p:nvPicPr>
          <p:cNvPr id="6" name="Audio 5">
            <a:extLst>
              <a:ext uri="{FF2B5EF4-FFF2-40B4-BE49-F238E27FC236}">
                <a16:creationId xmlns:a16="http://schemas.microsoft.com/office/drawing/2014/main" id="{6095FBD2-182A-F900-A9B1-F7F307A42AC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9120"/>
    </mc:Choice>
    <mc:Fallback>
      <p:transition spd="slow" advTm="391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blipFill>
                <a:blip r:embed="rId5"/>
                <a:stretch>
                  <a:fillRect l="-1215" t="-1575" b="-2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Audio 5">
            <a:extLst>
              <a:ext uri="{FF2B5EF4-FFF2-40B4-BE49-F238E27FC236}">
                <a16:creationId xmlns:a16="http://schemas.microsoft.com/office/drawing/2014/main" id="{B7B47140-98BA-E337-2998-29147A790B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5240"/>
    </mc:Choice>
    <mc:Fallback>
      <p:transition spd="slow" advTm="752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CA3F2-8FE8-3FB2-0DAC-39A64DBF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070A650-625A-E8AF-C1EF-B7CC811FCAC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Model choice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ECA9-0511-C6E9-E022-8DEB0B81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675042"/>
              </p:ext>
            </p:extLst>
          </p:nvPr>
        </p:nvGraphicFramePr>
        <p:xfrm>
          <a:off x="584886" y="1454148"/>
          <a:ext cx="11022228" cy="4894879"/>
        </p:xfrm>
        <a:graphic>
          <a:graphicData uri="http://schemas.openxmlformats.org/drawingml/2006/table">
            <a:tbl>
              <a:tblPr/>
              <a:tblGrid>
                <a:gridCol w="2702011">
                  <a:extLst>
                    <a:ext uri="{9D8B030D-6E8A-4147-A177-3AD203B41FA5}">
                      <a16:colId xmlns:a16="http://schemas.microsoft.com/office/drawing/2014/main" val="944400814"/>
                    </a:ext>
                  </a:extLst>
                </a:gridCol>
                <a:gridCol w="1767017">
                  <a:extLst>
                    <a:ext uri="{9D8B030D-6E8A-4147-A177-3AD203B41FA5}">
                      <a16:colId xmlns:a16="http://schemas.microsoft.com/office/drawing/2014/main" val="1266414210"/>
                    </a:ext>
                  </a:extLst>
                </a:gridCol>
                <a:gridCol w="1655805">
                  <a:extLst>
                    <a:ext uri="{9D8B030D-6E8A-4147-A177-3AD203B41FA5}">
                      <a16:colId xmlns:a16="http://schemas.microsoft.com/office/drawing/2014/main" val="3416231071"/>
                    </a:ext>
                  </a:extLst>
                </a:gridCol>
                <a:gridCol w="1433384">
                  <a:extLst>
                    <a:ext uri="{9D8B030D-6E8A-4147-A177-3AD203B41FA5}">
                      <a16:colId xmlns:a16="http://schemas.microsoft.com/office/drawing/2014/main" val="4281795310"/>
                    </a:ext>
                  </a:extLst>
                </a:gridCol>
                <a:gridCol w="1297459">
                  <a:extLst>
                    <a:ext uri="{9D8B030D-6E8A-4147-A177-3AD203B41FA5}">
                      <a16:colId xmlns:a16="http://schemas.microsoft.com/office/drawing/2014/main" val="2781552711"/>
                    </a:ext>
                  </a:extLst>
                </a:gridCol>
                <a:gridCol w="1037968">
                  <a:extLst>
                    <a:ext uri="{9D8B030D-6E8A-4147-A177-3AD203B41FA5}">
                      <a16:colId xmlns:a16="http://schemas.microsoft.com/office/drawing/2014/main" val="4110399253"/>
                    </a:ext>
                  </a:extLst>
                </a:gridCol>
                <a:gridCol w="1128584">
                  <a:extLst>
                    <a:ext uri="{9D8B030D-6E8A-4147-A177-3AD203B41FA5}">
                      <a16:colId xmlns:a16="http://schemas.microsoft.com/office/drawing/2014/main" val="2544393121"/>
                    </a:ext>
                  </a:extLst>
                </a:gridCol>
              </a:tblGrid>
              <a:tr h="8537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Model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Binary Outcome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Interpretable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Stable &amp; Reproducible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Handles Correlated Exposures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Fast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Overall Fit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6388"/>
                  </a:ext>
                </a:extLst>
              </a:tr>
              <a:tr h="57147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Logistic Regression (L1/L2)</a:t>
                      </a:r>
                      <a:endParaRPr lang="en-NZ" sz="1600" dirty="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✅✅✅ BEST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537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Linear Probability Model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762001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Bernoulli Naive Bayes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58513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Fisher Exact Test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54091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Single Decision Tree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31692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Random Forest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015233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Gradient Boosting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09666"/>
                  </a:ext>
                </a:extLst>
              </a:tr>
              <a:tr h="39798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Bayesian Logistic Regression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595059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Kernel SVM (RBF)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20715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Neural Networks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009276"/>
                  </a:ext>
                </a:extLst>
              </a:tr>
            </a:tbl>
          </a:graphicData>
        </a:graphic>
      </p:graphicFrame>
      <p:pic>
        <p:nvPicPr>
          <p:cNvPr id="12" name="Audio 11">
            <a:extLst>
              <a:ext uri="{FF2B5EF4-FFF2-40B4-BE49-F238E27FC236}">
                <a16:creationId xmlns:a16="http://schemas.microsoft.com/office/drawing/2014/main" id="{B29C82C1-21BF-9802-E4E5-98031A5E70C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700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0"/>
    </mc:Choice>
    <mc:Fallback>
      <p:transition spd="slow" advTm="8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516836" cy="23527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1220381" y="5318104"/>
            <a:ext cx="63098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 – mitigates collinearity and overfitting</a:t>
            </a:r>
          </a:p>
          <a:p>
            <a:r>
              <a:rPr lang="en-US" dirty="0"/>
              <a:t>Nested cross validation – unbiased and stable performance</a:t>
            </a:r>
          </a:p>
          <a:p>
            <a:r>
              <a:rPr lang="en-US" dirty="0"/>
              <a:t>Class weighting – accounts for class imbalance</a:t>
            </a:r>
          </a:p>
          <a:p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88573" y="4551165"/>
            <a:ext cx="3553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Symptom separation (ROC AUC)</a:t>
            </a:r>
          </a:p>
          <a:p>
            <a:r>
              <a:rPr lang="en-US" dirty="0"/>
              <a:t>Recall</a:t>
            </a:r>
          </a:p>
          <a:p>
            <a:r>
              <a:rPr lang="en-US" dirty="0"/>
              <a:t>Sample size</a:t>
            </a:r>
          </a:p>
          <a:p>
            <a:r>
              <a:rPr lang="en-US" dirty="0"/>
              <a:t>Confidence intervals</a:t>
            </a:r>
          </a:p>
          <a:p>
            <a:r>
              <a:rPr lang="en-US" dirty="0"/>
              <a:t>Collinearity warning</a:t>
            </a:r>
          </a:p>
        </p:txBody>
      </p:sp>
      <p:pic>
        <p:nvPicPr>
          <p:cNvPr id="15" name="Audio 14">
            <a:extLst>
              <a:ext uri="{FF2B5EF4-FFF2-40B4-BE49-F238E27FC236}">
                <a16:creationId xmlns:a16="http://schemas.microsoft.com/office/drawing/2014/main" id="{B2153023-925D-25B7-6586-EDDBCF5C410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8000"/>
    </mc:Choice>
    <mc:Fallback>
      <p:transition spd="slow" advTm="6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pic>
        <p:nvPicPr>
          <p:cNvPr id="5" name="Audio 4">
            <a:extLst>
              <a:ext uri="{FF2B5EF4-FFF2-40B4-BE49-F238E27FC236}">
                <a16:creationId xmlns:a16="http://schemas.microsoft.com/office/drawing/2014/main" id="{991BF682-97FB-CD13-C7EA-B4786058BF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600"/>
    </mc:Choice>
    <mc:Fallback>
      <p:transition spd="slow" advTm="196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Audio 5">
            <a:extLst>
              <a:ext uri="{FF2B5EF4-FFF2-40B4-BE49-F238E27FC236}">
                <a16:creationId xmlns:a16="http://schemas.microsoft.com/office/drawing/2014/main" id="{87A905BE-4761-F251-0976-97BB5BE4D60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1260"/>
    </mc:Choice>
    <mc:Fallback>
      <p:transition spd="slow" advTm="512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</a:t>
            </a:r>
            <a:r>
              <a:rPr kumimoji="0" lang="en-US" altLang="en-US" sz="2000" b="0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</a:rPr>
              <a:t>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Audio 5">
            <a:extLst>
              <a:ext uri="{FF2B5EF4-FFF2-40B4-BE49-F238E27FC236}">
                <a16:creationId xmlns:a16="http://schemas.microsoft.com/office/drawing/2014/main" id="{0508FF2F-5271-F820-4FB6-1E9D17F64D1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460"/>
    </mc:Choice>
    <mc:Fallback>
      <p:transition spd="slow" advTm="84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591135"/>
            <a:ext cx="101727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4098" name="Picture 2" descr="Allergen Rank Plot">
            <a:extLst>
              <a:ext uri="{FF2B5EF4-FFF2-40B4-BE49-F238E27FC236}">
                <a16:creationId xmlns:a16="http://schemas.microsoft.com/office/drawing/2014/main" id="{3E02581F-4048-7212-D3A9-70F895195D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253"/>
          <a:stretch>
            <a:fillRect/>
          </a:stretch>
        </p:blipFill>
        <p:spPr bwMode="auto">
          <a:xfrm>
            <a:off x="1125798" y="1625601"/>
            <a:ext cx="9940403" cy="4659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4C6C13-AE51-34D6-A1E4-A5882E8BD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24B4106-5FD9-A95D-DF46-1E28B609BE4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F46A5C-AB72-3E56-CBA7-AD4EE100FBA4}"/>
              </a:ext>
            </a:extLst>
          </p:cNvPr>
          <p:cNvSpPr txBox="1"/>
          <p:nvPr/>
        </p:nvSpPr>
        <p:spPr>
          <a:xfrm>
            <a:off x="2177538" y="1148488"/>
            <a:ext cx="7775270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for regular cycles in symptom occurrence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Option to email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form displaying raw data users can edit / delete logs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0855F-CC9B-9A94-1DE8-07D98CE8FFD1}"/>
              </a:ext>
            </a:extLst>
          </p:cNvPr>
          <p:cNvSpPr txBox="1"/>
          <p:nvPr/>
        </p:nvSpPr>
        <p:spPr>
          <a:xfrm>
            <a:off x="4040862" y="4045151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A7606EA1-8E49-119B-D9E8-85231FB92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835" y="5023677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10B93E-4F22-4DF1-2966-15298DD37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564" y="4180595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12B06D6-1AD0-FE61-64DA-CE4A20C3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886" y="5666630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DF0BD4-B573-BF48-A352-298F2C3D0B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203" y="4194322"/>
            <a:ext cx="2474654" cy="247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546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11661</TotalTime>
  <Words>933</Words>
  <Application>Microsoft Macintosh PowerPoint</Application>
  <PresentationFormat>Widescreen</PresentationFormat>
  <Paragraphs>290</Paragraphs>
  <Slides>20</Slides>
  <Notes>9</Notes>
  <HiddenSlides>0</HiddenSlides>
  <MMClips>15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47</cp:revision>
  <dcterms:created xsi:type="dcterms:W3CDTF">2026-02-02T17:08:18Z</dcterms:created>
  <dcterms:modified xsi:type="dcterms:W3CDTF">2026-02-12T06:06:28Z</dcterms:modified>
</cp:coreProperties>
</file>