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4" r:id="rId4"/>
    <p:sldId id="258" r:id="rId5"/>
    <p:sldId id="265" r:id="rId6"/>
    <p:sldId id="266" r:id="rId7"/>
    <p:sldId id="267" r:id="rId8"/>
    <p:sldId id="268" r:id="rId9"/>
    <p:sldId id="269" r:id="rId10"/>
    <p:sldId id="270" r:id="rId11"/>
    <p:sldId id="281" r:id="rId12"/>
    <p:sldId id="273" r:id="rId13"/>
    <p:sldId id="274" r:id="rId14"/>
    <p:sldId id="276" r:id="rId15"/>
    <p:sldId id="275" r:id="rId16"/>
    <p:sldId id="277" r:id="rId17"/>
    <p:sldId id="278" r:id="rId18"/>
    <p:sldId id="280" r:id="rId19"/>
    <p:sldId id="263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CEB2"/>
    <a:srgbClr val="6BB453"/>
    <a:srgbClr val="D9E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0039"/>
    <p:restoredTop sz="92109"/>
  </p:normalViewPr>
  <p:slideViewPr>
    <p:cSldViewPr snapToGrid="0">
      <p:cViewPr varScale="1">
        <p:scale>
          <a:sx n="104" d="100"/>
          <a:sy n="104" d="100"/>
        </p:scale>
        <p:origin x="8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129F3-75EC-D542-A5E7-6B2EA2FC2F6F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411DF-8F42-DC44-97D6-2476D6EDD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99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411DF-8F42-DC44-97D6-2476D6EDDA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13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411DF-8F42-DC44-97D6-2476D6EDDA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82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411DF-8F42-DC44-97D6-2476D6EDDA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08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0880E-785B-4C9D-53B6-CA4C6EE0D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DFD41-2549-4CEE-0113-CACCF7F04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34DA2-4A18-9142-78C1-A4FD716F6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84C2B-E178-AEC3-D3DA-A47708546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411DF-8F42-DC44-97D6-2476D6EDDA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51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7E4F3-E357-B922-5F82-829B909C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DF416-1638-2EB1-E608-7287D4C4C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37506-E53F-D3ED-0365-4B2DFFE95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1A01B-D370-5544-ADAC-D4CBC5EF8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411DF-8F42-DC44-97D6-2476D6EDDA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29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BCD00-745A-5734-DF0E-E509F803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D8638-1D76-D13E-DEBC-A32B30889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52784F-710F-D2BF-7498-E02CD8AC7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B35B9-9EBF-E9AC-2DDA-A697E4FB2B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411DF-8F42-DC44-97D6-2476D6EDDA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85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13CEC-283A-CA60-BD47-124544A1C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A996B0-CC5E-69ED-C75A-3A96D0C03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77362-8E4D-CFD5-2281-BA1031457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6B9BD-11D0-0C45-DFDE-B84E44BD1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411DF-8F42-DC44-97D6-2476D6EDDA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8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4B846-6235-C7FF-EE16-36CABAD9A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9F214-9566-1B91-C95B-FE1401B416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B3FF9-DB58-EAC4-7B9E-6E1AAE78F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3BBC9-A369-F51C-2D6B-75AD11968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411DF-8F42-DC44-97D6-2476D6EDDA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12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6F295-A72F-966A-AB8A-CB1B76C97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344491-C1C2-DC66-34C0-04542F2B9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5D02A-A991-D943-A9AD-9BA92D6BC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822AE-866E-1235-8345-7375446F1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411DF-8F42-DC44-97D6-2476D6EDDA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4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8A49-7F67-13EC-6D3F-92E4BF66C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7EB51C-DD6C-D41E-05D4-952C19BF6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5F786-6129-2C8B-B9AF-1DF00FF40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65CF0-6EA1-ADDC-AD23-B20FE51C8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075BD-C083-8537-DB5A-D5118C254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95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0A113-22DC-F57A-DF96-40EDCE56F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4454D-9A24-EA15-8B1E-4D6EA0865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647A2-A7E1-9B90-DA2D-D570801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241D4-6957-B522-437F-5DA64597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23DC8-7393-A4D7-01CD-0F5E8B40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20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1B622-82BE-5124-33EE-8490F5AD8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42315-89B5-52F9-64EA-81A5FDF3E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8C6A0-8225-EAC2-8246-A9499E103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BD3C-4714-D0B1-FCE4-CA74986B9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B1599-E2C7-4C08-13E1-53B06827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0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A1EB-342A-51E9-468B-4477E6F6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BF26A-4848-804F-6CD9-49429B7AA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19D79-FF59-004B-A846-3A28886D2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C02F9-04A6-FE60-368D-A339D1BA5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06647-37F7-4BB2-A92C-15B43574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5DF77-0BD3-25C8-F966-9A6104486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29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25BA2-AC21-4736-89E5-3517517A7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24146-A48B-3286-F566-6BE8432D6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91404-EC20-7638-7D31-D044BE245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ABBE3-5EEE-688A-B7BD-A569EF3FD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6D079-4849-5048-2291-253FF501C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0243A8-CA75-466E-B3E7-63DD7B7FD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D6595E-72CE-30F3-D2FC-84FD92CE9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F443F0-0E43-05DA-1E0C-2F141C37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5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6894-67CC-19C2-496B-C77B9EB6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7BC4D-7DDB-416A-8B95-5D6F6A1F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226F9-0A8A-F714-4B0A-5CBCC7BC7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76ABD-419D-5873-DF6C-14C41609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83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BF1B54-CA8E-B3DF-4C1F-8680329F9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FEE44-00A8-183E-6ED5-867E87E40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E0734-CDA5-D21B-2F57-CD44FDB2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26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0A2C3-C532-7C86-371C-0D694D902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022BB-0E54-DD0F-1D59-6BDB0F9DB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B0BFE-02DF-E0A9-5642-E275C16E5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16CA7-C750-0183-502C-B2ED102B7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78FB1-7BB4-969E-9F95-2905DAA13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ED124-C13C-C812-8D73-D52501A6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8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D695-EF4F-F8CD-DE6B-D2D2BBE1A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813F1D-2E16-80D2-BEB6-2774B0D30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C812-AC58-DB20-76B8-CC88F71AA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40857-2E10-FAE1-D295-06AF87BE9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A329A1-9FA5-095B-D554-63EB87E53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52B6C-6D37-B899-CD50-038DB443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935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92EA-2075-3EFA-5E25-5EC1C60C7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49246-7F20-448E-3444-74B1771EA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BA780-EAF4-05AB-4914-B848FA7F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78896-5E44-EF7A-D1AE-8E22CBCB9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617CC-3D37-8172-FFEA-D9BFD3B3C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0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754AE-B960-0951-CB00-294ACBD65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D6A3A-62DF-A497-ACCB-D00E8940E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B0018-4E54-93BF-399B-FCE06D959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85D3F-5A0E-526E-A7EB-0F8773FD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FA5AD-F017-64D1-CB2B-27332A83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61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6CFD27-07EF-4358-9FEF-B15234F1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C8C0E-289C-47EF-8E97-4BAB87B64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7F0D0-9E02-6714-A3E5-FDD8E9658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1F689-6728-C24D-89DD-C7D5514C117B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32FC6-B259-0F40-A95B-8708F3C42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53320-4955-4759-5C2C-CB60785A8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BEBF1E-C3E9-D849-AF50-6306BC81AD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6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lkohout.github.io/food_body_connection/dashboard.html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microsoft.com/office/2007/relationships/hdphoto" Target="../media/hdphoto1.wdp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3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bowls of fruit and vegetables&#10;&#10;AI-generated content may be incorrect.">
            <a:extLst>
              <a:ext uri="{FF2B5EF4-FFF2-40B4-BE49-F238E27FC236}">
                <a16:creationId xmlns:a16="http://schemas.microsoft.com/office/drawing/2014/main" id="{F7F14300-9F9F-6606-0740-66EB056F82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156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3948CE-CA02-8BC4-6749-2CDCAF3D2B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7485" y="3429000"/>
            <a:ext cx="5617029" cy="2387600"/>
          </a:xfrm>
          <a:solidFill>
            <a:schemeClr val="bg1">
              <a:alpha val="67136"/>
            </a:schemeClr>
          </a:solidFill>
          <a:effectLst>
            <a:softEdge rad="158395"/>
          </a:effectLst>
        </p:spPr>
        <p:txBody>
          <a:bodyPr>
            <a:normAutofit/>
          </a:bodyPr>
          <a:lstStyle/>
          <a:p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Food – Body </a:t>
            </a:r>
            <a:b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Connection</a:t>
            </a:r>
          </a:p>
        </p:txBody>
      </p:sp>
      <p:pic>
        <p:nvPicPr>
          <p:cNvPr id="3" name="Picture 2" descr="A logo of a person with an apple and a fork&#10;&#10;AI-generated content may be incorrect.">
            <a:extLst>
              <a:ext uri="{FF2B5EF4-FFF2-40B4-BE49-F238E27FC236}">
                <a16:creationId xmlns:a16="http://schemas.microsoft.com/office/drawing/2014/main" id="{3FC1D791-65A2-050B-DCDC-B8656E867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1" y="94344"/>
            <a:ext cx="4161971" cy="4161971"/>
          </a:xfrm>
          <a:prstGeom prst="rect">
            <a:avLst/>
          </a:prstGeom>
        </p:spPr>
      </p:pic>
      <p:pic>
        <p:nvPicPr>
          <p:cNvPr id="9" name="Audio 8">
            <a:extLst>
              <a:ext uri="{FF2B5EF4-FFF2-40B4-BE49-F238E27FC236}">
                <a16:creationId xmlns:a16="http://schemas.microsoft.com/office/drawing/2014/main" id="{6BECCB89-33C4-C309-963C-E0FCD53C88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496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6060"/>
    </mc:Choice>
    <mc:Fallback>
      <p:transition spd="slow" advTm="760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F2F2F-9A94-ADD0-4EE9-529C0A807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C622-E266-4567-A32F-159AB4F36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259" y="158536"/>
            <a:ext cx="8987481" cy="1200707"/>
          </a:xfrm>
        </p:spPr>
        <p:txBody>
          <a:bodyPr/>
          <a:lstStyle/>
          <a:p>
            <a:r>
              <a:rPr lang="en-US" dirty="0"/>
              <a:t>Target audience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ADAA61-AD0D-FF9C-6278-246725B247F8}"/>
              </a:ext>
            </a:extLst>
          </p:cNvPr>
          <p:cNvSpPr txBox="1"/>
          <p:nvPr/>
        </p:nvSpPr>
        <p:spPr>
          <a:xfrm>
            <a:off x="2261287" y="1846816"/>
            <a:ext cx="801953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Health practitioners to provide app to patients </a:t>
            </a:r>
          </a:p>
          <a:p>
            <a:pPr marL="914400" lvl="1" indent="-457200">
              <a:buFontTx/>
              <a:buChar char="-"/>
            </a:pPr>
            <a:r>
              <a:rPr lang="en-US" sz="2800" dirty="0">
                <a:cs typeface="Arial" panose="020B0604020202020204" pitchFamily="34" charset="0"/>
              </a:rPr>
              <a:t>Dietician</a:t>
            </a:r>
          </a:p>
          <a:p>
            <a:pPr marL="914400" lvl="1" indent="-457200">
              <a:buFontTx/>
              <a:buChar char="-"/>
            </a:pPr>
            <a:r>
              <a:rPr lang="en-US" sz="2800" dirty="0">
                <a:cs typeface="Arial" panose="020B0604020202020204" pitchFamily="34" charset="0"/>
              </a:rPr>
              <a:t>Naturopath </a:t>
            </a:r>
          </a:p>
          <a:p>
            <a:pPr marL="914400" lvl="1" indent="-457200">
              <a:buFontTx/>
              <a:buChar char="-"/>
            </a:pPr>
            <a:r>
              <a:rPr lang="en-US" sz="2800" dirty="0">
                <a:cs typeface="Arial" panose="020B0604020202020204" pitchFamily="34" charset="0"/>
              </a:rPr>
              <a:t>Herbalist</a:t>
            </a:r>
          </a:p>
          <a:p>
            <a:pPr marL="914400" lvl="1" indent="-457200">
              <a:buFontTx/>
              <a:buChar char="-"/>
            </a:pPr>
            <a:r>
              <a:rPr lang="en-US" sz="2800" dirty="0">
                <a:cs typeface="Arial" panose="020B0604020202020204" pitchFamily="34" charset="0"/>
              </a:rPr>
              <a:t>Doctor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Any individual with chronic symptoms unable to pin down causes</a:t>
            </a:r>
          </a:p>
        </p:txBody>
      </p:sp>
      <p:pic>
        <p:nvPicPr>
          <p:cNvPr id="15" name="Picture 14" descr="Child lying in bed">
            <a:extLst>
              <a:ext uri="{FF2B5EF4-FFF2-40B4-BE49-F238E27FC236}">
                <a16:creationId xmlns:a16="http://schemas.microsoft.com/office/drawing/2014/main" id="{1E59DE4A-962A-8888-132D-267F74E1C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3651" y="5170712"/>
            <a:ext cx="2109518" cy="1406214"/>
          </a:xfrm>
          <a:prstGeom prst="rect">
            <a:avLst/>
          </a:prstGeom>
        </p:spPr>
      </p:pic>
      <p:pic>
        <p:nvPicPr>
          <p:cNvPr id="19" name="Picture 18" descr="Person using iPad">
            <a:extLst>
              <a:ext uri="{FF2B5EF4-FFF2-40B4-BE49-F238E27FC236}">
                <a16:creationId xmlns:a16="http://schemas.microsoft.com/office/drawing/2014/main" id="{36D3B5A9-6C8D-5BD5-ADEF-5456D7581F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001" y="2491596"/>
            <a:ext cx="2809416" cy="1874807"/>
          </a:xfrm>
          <a:prstGeom prst="rect">
            <a:avLst/>
          </a:prstGeom>
        </p:spPr>
      </p:pic>
      <p:pic>
        <p:nvPicPr>
          <p:cNvPr id="6" name="Audio 5">
            <a:extLst>
              <a:ext uri="{FF2B5EF4-FFF2-40B4-BE49-F238E27FC236}">
                <a16:creationId xmlns:a16="http://schemas.microsoft.com/office/drawing/2014/main" id="{3AA39C68-1A37-F06C-3959-C4C8B2B33E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770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5160"/>
    </mc:Choice>
    <mc:Fallback>
      <p:transition spd="slow" advTm="451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A6F8F-926A-2DDD-3ED5-FDB363AD3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C95F652-30F2-64D2-042A-447E81544598}"/>
              </a:ext>
            </a:extLst>
          </p:cNvPr>
          <p:cNvSpPr txBox="1">
            <a:spLocks/>
          </p:cNvSpPr>
          <p:nvPr/>
        </p:nvSpPr>
        <p:spPr>
          <a:xfrm>
            <a:off x="1602259" y="158536"/>
            <a:ext cx="8987481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Goals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DE5CB4-F051-EA80-1DC7-43FE79D94EB2}"/>
              </a:ext>
            </a:extLst>
          </p:cNvPr>
          <p:cNvSpPr txBox="1"/>
          <p:nvPr/>
        </p:nvSpPr>
        <p:spPr>
          <a:xfrm>
            <a:off x="2261287" y="1846816"/>
            <a:ext cx="80195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Design a secure web based app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User can register/login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User can log: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allergens exposed to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symptoms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cs typeface="Arial" panose="020B0604020202020204" pitchFamily="34" charset="0"/>
              </a:rPr>
              <a:t>User can extract meaningful information from logged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cs typeface="Arial" panose="020B0604020202020204" pitchFamily="34" charset="0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87338D94-DF2C-0C53-7FEB-349FBB75E0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443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100"/>
    </mc:Choice>
    <mc:Fallback>
      <p:transition spd="slow" advTm="201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6905F-1C55-53A2-1134-339CEF39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A02D5C2-C7BC-B797-5F40-7F6A62C4487A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System Architecture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DD693-357F-9A3F-49E3-7A36211F6029}"/>
              </a:ext>
            </a:extLst>
          </p:cNvPr>
          <p:cNvSpPr txBox="1"/>
          <p:nvPr/>
        </p:nvSpPr>
        <p:spPr>
          <a:xfrm>
            <a:off x="2261286" y="1576997"/>
            <a:ext cx="80195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70AB52-BCE6-4DF8-3CC4-8134E6D9CA95}"/>
              </a:ext>
            </a:extLst>
          </p:cNvPr>
          <p:cNvSpPr txBox="1"/>
          <p:nvPr/>
        </p:nvSpPr>
        <p:spPr>
          <a:xfrm>
            <a:off x="2088291" y="1000897"/>
            <a:ext cx="9440561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000000"/>
                </a:solidFill>
              </a:rPr>
              <a:t>F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rontend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is a static web app (GitHub):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Send requests to an API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Render responses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000000"/>
                </a:solidFill>
              </a:rPr>
              <a:t>B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ackend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(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</a:rPr>
              <a:t>FastAPI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Handles authentication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Stores and analyses data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000000"/>
                </a:solidFill>
              </a:rPr>
              <a:t>D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atabase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(AWS RDS):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Stores structured health data (PostgreSQL)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Is never accessed directly by the frontend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cs typeface="Arial" panose="020B0604020202020204" pitchFamily="34" charset="0"/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576E3FA-41A2-66F9-5727-8375079BE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12" descr="A black cat in a circle&#10;&#10;AI-generated content may be incorrect.">
            <a:extLst>
              <a:ext uri="{FF2B5EF4-FFF2-40B4-BE49-F238E27FC236}">
                <a16:creationId xmlns:a16="http://schemas.microsoft.com/office/drawing/2014/main" id="{E652B23C-BD49-9751-7322-E41CA8BE9E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938" y="1402534"/>
            <a:ext cx="1451877" cy="14518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1C24362-28D8-6DC9-29DB-4E3B61AD9C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6379" y="3028874"/>
            <a:ext cx="1405559" cy="12522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588F48-E80D-FAC2-B7B3-D648798BA2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3709" y="4938514"/>
            <a:ext cx="1718342" cy="1412859"/>
          </a:xfrm>
          <a:prstGeom prst="rect">
            <a:avLst/>
          </a:prstGeom>
        </p:spPr>
      </p:pic>
      <p:pic>
        <p:nvPicPr>
          <p:cNvPr id="8" name="Audio 7">
            <a:extLst>
              <a:ext uri="{FF2B5EF4-FFF2-40B4-BE49-F238E27FC236}">
                <a16:creationId xmlns:a16="http://schemas.microsoft.com/office/drawing/2014/main" id="{1954CE6E-0E45-ACF6-092B-67D06A24A4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520"/>
    </mc:Choice>
    <mc:Fallback>
      <p:transition spd="slow" advTm="345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0DB46A-D753-CCD5-4BBB-1EEDFAC2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BC37959-0039-91D3-A418-11595CC94AAC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SQL Database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18C4C5-78C8-2B18-1181-57673153F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989072"/>
              </p:ext>
            </p:extLst>
          </p:nvPr>
        </p:nvGraphicFramePr>
        <p:xfrm>
          <a:off x="9112647" y="2657183"/>
          <a:ext cx="17125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2500">
                  <a:extLst>
                    <a:ext uri="{9D8B030D-6E8A-4147-A177-3AD203B41FA5}">
                      <a16:colId xmlns:a16="http://schemas.microsoft.com/office/drawing/2014/main" val="278288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Allergens</a:t>
                      </a:r>
                    </a:p>
                  </a:txBody>
                  <a:tcPr>
                    <a:solidFill>
                      <a:srgbClr val="C2C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2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Allergen ID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866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3748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Allergen Name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9548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19D03C1-6DA9-2554-3718-188890D95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02825"/>
              </p:ext>
            </p:extLst>
          </p:nvPr>
        </p:nvGraphicFramePr>
        <p:xfrm>
          <a:off x="522908" y="2483121"/>
          <a:ext cx="158255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550">
                  <a:extLst>
                    <a:ext uri="{9D8B030D-6E8A-4147-A177-3AD203B41FA5}">
                      <a16:colId xmlns:a16="http://schemas.microsoft.com/office/drawing/2014/main" val="278288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Symptoms </a:t>
                      </a:r>
                    </a:p>
                  </a:txBody>
                  <a:tcPr>
                    <a:solidFill>
                      <a:srgbClr val="C2C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425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 ID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357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 Name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2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 Group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81284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9FF834-59A5-0606-BF3B-4C160DC73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371957"/>
              </p:ext>
            </p:extLst>
          </p:nvPr>
        </p:nvGraphicFramePr>
        <p:xfrm>
          <a:off x="4853475" y="1359243"/>
          <a:ext cx="2032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20800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Users</a:t>
                      </a:r>
                    </a:p>
                  </a:txBody>
                  <a:tcPr>
                    <a:solidFill>
                      <a:srgbClr val="C2C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57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465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66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Password Hash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26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Created At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05948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59E3E59-0949-C8B7-E913-512FBD3B0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865260"/>
              </p:ext>
            </p:extLst>
          </p:nvPr>
        </p:nvGraphicFramePr>
        <p:xfrm>
          <a:off x="9112647" y="5245489"/>
          <a:ext cx="2032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20800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Units</a:t>
                      </a:r>
                    </a:p>
                  </a:txBody>
                  <a:tcPr>
                    <a:solidFill>
                      <a:srgbClr val="C2C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57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Unit ID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0962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Unit Name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75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Unit Conversion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52848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FF90B8C-2071-6BB5-A8D1-F0D833B3A3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03933"/>
              </p:ext>
            </p:extLst>
          </p:nvPr>
        </p:nvGraphicFramePr>
        <p:xfrm>
          <a:off x="3345478" y="3615024"/>
          <a:ext cx="215556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568">
                  <a:extLst>
                    <a:ext uri="{9D8B030D-6E8A-4147-A177-3AD203B41FA5}">
                      <a16:colId xmlns:a16="http://schemas.microsoft.com/office/drawing/2014/main" val="2920800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 Log </a:t>
                      </a:r>
                    </a:p>
                  </a:txBody>
                  <a:tcPr>
                    <a:solidFill>
                      <a:srgbClr val="C2C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57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 Log ID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17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316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 / Time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552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901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 Intensity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06017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7FF6DBE-30FB-06C5-8809-23819052EF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804843"/>
              </p:ext>
            </p:extLst>
          </p:nvPr>
        </p:nvGraphicFramePr>
        <p:xfrm>
          <a:off x="6260524" y="3622640"/>
          <a:ext cx="179630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307">
                  <a:extLst>
                    <a:ext uri="{9D8B030D-6E8A-4147-A177-3AD203B41FA5}">
                      <a16:colId xmlns:a16="http://schemas.microsoft.com/office/drawing/2014/main" val="2920800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Allergen Log</a:t>
                      </a:r>
                    </a:p>
                  </a:txBody>
                  <a:tcPr>
                    <a:solidFill>
                      <a:srgbClr val="C2C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57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Allergen Log ID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09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36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 / Time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068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Allergen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1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77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Unit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431168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49F3B3-6FC7-762B-DC52-FA2507252DDB}"/>
              </a:ext>
            </a:extLst>
          </p:cNvPr>
          <p:cNvCxnSpPr>
            <a:cxnSpLocks/>
          </p:cNvCxnSpPr>
          <p:nvPr/>
        </p:nvCxnSpPr>
        <p:spPr>
          <a:xfrm>
            <a:off x="2210029" y="4021373"/>
            <a:ext cx="957201" cy="1198605"/>
          </a:xfrm>
          <a:prstGeom prst="straightConnector1">
            <a:avLst/>
          </a:prstGeom>
          <a:ln>
            <a:solidFill>
              <a:srgbClr val="C2C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498BE6-979F-90A6-004E-A01E0EE1BED1}"/>
              </a:ext>
            </a:extLst>
          </p:cNvPr>
          <p:cNvCxnSpPr>
            <a:cxnSpLocks/>
          </p:cNvCxnSpPr>
          <p:nvPr/>
        </p:nvCxnSpPr>
        <p:spPr>
          <a:xfrm flipH="1">
            <a:off x="5567192" y="3311890"/>
            <a:ext cx="433756" cy="1193071"/>
          </a:xfrm>
          <a:prstGeom prst="straightConnector1">
            <a:avLst/>
          </a:prstGeom>
          <a:ln>
            <a:solidFill>
              <a:srgbClr val="C2C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D09BC5-C6DA-4AA6-0FAF-6E61F89C3768}"/>
              </a:ext>
            </a:extLst>
          </p:cNvPr>
          <p:cNvCxnSpPr>
            <a:cxnSpLocks/>
          </p:cNvCxnSpPr>
          <p:nvPr/>
        </p:nvCxnSpPr>
        <p:spPr>
          <a:xfrm flipH="1">
            <a:off x="8162995" y="3504329"/>
            <a:ext cx="799785" cy="1715649"/>
          </a:xfrm>
          <a:prstGeom prst="straightConnector1">
            <a:avLst/>
          </a:prstGeom>
          <a:ln>
            <a:solidFill>
              <a:srgbClr val="C2C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3BA430-899F-5CD4-C1E4-7CB5E76C9CC3}"/>
              </a:ext>
            </a:extLst>
          </p:cNvPr>
          <p:cNvCxnSpPr>
            <a:cxnSpLocks/>
          </p:cNvCxnSpPr>
          <p:nvPr/>
        </p:nvCxnSpPr>
        <p:spPr>
          <a:xfrm flipH="1">
            <a:off x="8162995" y="5380616"/>
            <a:ext cx="799785" cy="606553"/>
          </a:xfrm>
          <a:prstGeom prst="straightConnector1">
            <a:avLst/>
          </a:prstGeom>
          <a:ln>
            <a:solidFill>
              <a:srgbClr val="C2C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C3B1128-CB40-11F4-3563-FF14E25F9312}"/>
              </a:ext>
            </a:extLst>
          </p:cNvPr>
          <p:cNvCxnSpPr>
            <a:cxnSpLocks/>
          </p:cNvCxnSpPr>
          <p:nvPr/>
        </p:nvCxnSpPr>
        <p:spPr>
          <a:xfrm>
            <a:off x="5988910" y="3311890"/>
            <a:ext cx="165450" cy="1237876"/>
          </a:xfrm>
          <a:prstGeom prst="straightConnector1">
            <a:avLst/>
          </a:prstGeom>
          <a:ln>
            <a:solidFill>
              <a:srgbClr val="C2C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813085C-86D3-3994-35F4-E5328AD24BF9}"/>
              </a:ext>
            </a:extLst>
          </p:cNvPr>
          <p:cNvCxnSpPr>
            <a:cxnSpLocks/>
          </p:cNvCxnSpPr>
          <p:nvPr/>
        </p:nvCxnSpPr>
        <p:spPr>
          <a:xfrm flipH="1">
            <a:off x="2209860" y="1689807"/>
            <a:ext cx="2430280" cy="1622083"/>
          </a:xfrm>
          <a:prstGeom prst="straightConnector1">
            <a:avLst/>
          </a:prstGeom>
          <a:ln>
            <a:solidFill>
              <a:srgbClr val="C2C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7267BF-54E2-DCA4-0348-08A0FBEEC07A}"/>
              </a:ext>
            </a:extLst>
          </p:cNvPr>
          <p:cNvCxnSpPr>
            <a:cxnSpLocks/>
          </p:cNvCxnSpPr>
          <p:nvPr/>
        </p:nvCxnSpPr>
        <p:spPr>
          <a:xfrm>
            <a:off x="7098810" y="1632605"/>
            <a:ext cx="1863970" cy="1766258"/>
          </a:xfrm>
          <a:prstGeom prst="straightConnector1">
            <a:avLst/>
          </a:prstGeom>
          <a:ln>
            <a:solidFill>
              <a:srgbClr val="C2C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Audio 20">
            <a:extLst>
              <a:ext uri="{FF2B5EF4-FFF2-40B4-BE49-F238E27FC236}">
                <a16:creationId xmlns:a16="http://schemas.microsoft.com/office/drawing/2014/main" id="{F6F1BE8A-6B30-37D0-AA2F-5CA2F49B82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33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580"/>
    </mc:Choice>
    <mc:Fallback>
      <p:transition spd="slow" advTm="505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3EFA4-EDA0-2A60-96B2-EC02FF6A1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3C209EE-D218-1B43-B5BE-34670DE963CC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Logging in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239CF6-F744-EC6B-DD48-07B0B9F7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406790"/>
              </p:ext>
            </p:extLst>
          </p:nvPr>
        </p:nvGraphicFramePr>
        <p:xfrm>
          <a:off x="7949971" y="2650761"/>
          <a:ext cx="2032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20800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Users</a:t>
                      </a:r>
                    </a:p>
                  </a:txBody>
                  <a:tcPr>
                    <a:solidFill>
                      <a:srgbClr val="C2C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57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6465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Email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66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Password Hash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26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Created At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059489"/>
                  </a:ext>
                </a:extLst>
              </a:tr>
            </a:tbl>
          </a:graphicData>
        </a:graphic>
      </p:graphicFrame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8FE84BD-58BA-08FC-1B46-7DDACAEFD9C0}"/>
              </a:ext>
            </a:extLst>
          </p:cNvPr>
          <p:cNvCxnSpPr>
            <a:cxnSpLocks/>
          </p:cNvCxnSpPr>
          <p:nvPr/>
        </p:nvCxnSpPr>
        <p:spPr>
          <a:xfrm>
            <a:off x="7166919" y="3579634"/>
            <a:ext cx="531340" cy="0"/>
          </a:xfrm>
          <a:prstGeom prst="straightConnector1">
            <a:avLst/>
          </a:prstGeom>
          <a:ln>
            <a:solidFill>
              <a:srgbClr val="C2C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EE2A3D2-2D26-EDB2-771E-B6A086F25A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388" t="11353" r="1762" b="28019"/>
          <a:stretch>
            <a:fillRect/>
          </a:stretch>
        </p:blipFill>
        <p:spPr>
          <a:xfrm>
            <a:off x="1680519" y="1940017"/>
            <a:ext cx="5103340" cy="31015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Audio 6">
            <a:extLst>
              <a:ext uri="{FF2B5EF4-FFF2-40B4-BE49-F238E27FC236}">
                <a16:creationId xmlns:a16="http://schemas.microsoft.com/office/drawing/2014/main" id="{1F3CD520-B087-EFFC-7265-53E1485B6B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77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20"/>
    </mc:Choice>
    <mc:Fallback>
      <p:transition spd="slow" advTm="120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695B1-848D-79A3-A070-29AB6CEB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00B419F-40EC-F94D-CE81-6A254426BB6F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Logging an exposure to an allergen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B97D7A3-0FE4-4B51-B30E-DBB17CC3291B}"/>
              </a:ext>
            </a:extLst>
          </p:cNvPr>
          <p:cNvCxnSpPr>
            <a:cxnSpLocks/>
          </p:cNvCxnSpPr>
          <p:nvPr/>
        </p:nvCxnSpPr>
        <p:spPr>
          <a:xfrm>
            <a:off x="7963931" y="3664088"/>
            <a:ext cx="654908" cy="0"/>
          </a:xfrm>
          <a:prstGeom prst="straightConnector1">
            <a:avLst/>
          </a:prstGeom>
          <a:ln>
            <a:solidFill>
              <a:srgbClr val="C2C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38FF0A5-1B0A-759B-06DE-7F8B3252AF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307637"/>
              </p:ext>
            </p:extLst>
          </p:nvPr>
        </p:nvGraphicFramePr>
        <p:xfrm>
          <a:off x="9028437" y="2522889"/>
          <a:ext cx="179630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307">
                  <a:extLst>
                    <a:ext uri="{9D8B030D-6E8A-4147-A177-3AD203B41FA5}">
                      <a16:colId xmlns:a16="http://schemas.microsoft.com/office/drawing/2014/main" val="2920800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Allergen Log</a:t>
                      </a:r>
                    </a:p>
                  </a:txBody>
                  <a:tcPr>
                    <a:solidFill>
                      <a:srgbClr val="C2C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57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Allergen Log ID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09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36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 / Time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068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Allergen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9198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77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Unit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043116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7243124-237B-07DC-7BC1-9BC308246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740" y="1618734"/>
            <a:ext cx="6710392" cy="4917825"/>
          </a:xfrm>
          <a:prstGeom prst="rect">
            <a:avLst/>
          </a:prstGeom>
        </p:spPr>
      </p:pic>
      <p:pic>
        <p:nvPicPr>
          <p:cNvPr id="10" name="Audio 9">
            <a:extLst>
              <a:ext uri="{FF2B5EF4-FFF2-40B4-BE49-F238E27FC236}">
                <a16:creationId xmlns:a16="http://schemas.microsoft.com/office/drawing/2014/main" id="{38B1D0F4-AD05-6BA3-653F-2694CA056DE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32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320"/>
    </mc:Choice>
    <mc:Fallback>
      <p:transition spd="slow" advTm="17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AFB3F-8809-FF07-CC4A-A00319034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4015F68-F47F-98EC-859B-1098785FE499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Logging a symptom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845FF3A-4DF3-F4BE-0B3C-BC7EA0A92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547889"/>
              </p:ext>
            </p:extLst>
          </p:nvPr>
        </p:nvGraphicFramePr>
        <p:xfrm>
          <a:off x="9165511" y="2795905"/>
          <a:ext cx="215556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568">
                  <a:extLst>
                    <a:ext uri="{9D8B030D-6E8A-4147-A177-3AD203B41FA5}">
                      <a16:colId xmlns:a16="http://schemas.microsoft.com/office/drawing/2014/main" val="2920800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 Log </a:t>
                      </a:r>
                    </a:p>
                  </a:txBody>
                  <a:tcPr>
                    <a:solidFill>
                      <a:srgbClr val="C2C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575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 Log ID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17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316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 / Time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552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 ID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901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Symptom Intensity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060170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26AC78-030E-7816-369B-85CB6C3179FC}"/>
              </a:ext>
            </a:extLst>
          </p:cNvPr>
          <p:cNvCxnSpPr>
            <a:cxnSpLocks/>
          </p:cNvCxnSpPr>
          <p:nvPr/>
        </p:nvCxnSpPr>
        <p:spPr>
          <a:xfrm>
            <a:off x="7900239" y="4070800"/>
            <a:ext cx="835988" cy="0"/>
          </a:xfrm>
          <a:prstGeom prst="straightConnector1">
            <a:avLst/>
          </a:prstGeom>
          <a:ln>
            <a:solidFill>
              <a:srgbClr val="C2CEB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FEFEE5D-4D90-9F92-9441-2C36A3D90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719" y="1359243"/>
            <a:ext cx="6640691" cy="5340221"/>
          </a:xfrm>
          <a:prstGeom prst="rect">
            <a:avLst/>
          </a:prstGeom>
        </p:spPr>
      </p:pic>
      <p:pic>
        <p:nvPicPr>
          <p:cNvPr id="8" name="Audio 7">
            <a:extLst>
              <a:ext uri="{FF2B5EF4-FFF2-40B4-BE49-F238E27FC236}">
                <a16:creationId xmlns:a16="http://schemas.microsoft.com/office/drawing/2014/main" id="{7C3D3957-35BB-16A5-2584-E3235986EAC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17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20"/>
    </mc:Choice>
    <mc:Fallback>
      <p:transition spd="slow" advTm="77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D77DBB-19F0-9425-C4BB-BFA9455D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4930678-7E5F-963C-B581-F2C820472EBE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Analysis - Goals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299418-EB91-361D-84EC-9BE362C47D1B}"/>
              </a:ext>
            </a:extLst>
          </p:cNvPr>
          <p:cNvSpPr txBox="1"/>
          <p:nvPr/>
        </p:nvSpPr>
        <p:spPr>
          <a:xfrm>
            <a:off x="1581664" y="1754659"/>
            <a:ext cx="94405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User to gain a sense of their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cs typeface="Arial" panose="020B0604020202020204" pitchFamily="34" charset="0"/>
              </a:rPr>
              <a:t>User to discover most likely allergen triggering symptoms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cs typeface="Arial" panose="020B0604020202020204" pitchFamily="34" charset="0"/>
              </a:rPr>
              <a:t>User to dive deeper into a particular allergen, time window and grouped symptoms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Risk assessment of allergen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cs typeface="Arial" panose="020B0604020202020204" pitchFamily="34" charset="0"/>
              </a:rPr>
              <a:t>Time series visual aid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Dose – response </a:t>
            </a:r>
            <a:r>
              <a:rPr lang="en-US" altLang="en-US" sz="2800" dirty="0">
                <a:solidFill>
                  <a:srgbClr val="000000"/>
                </a:solidFill>
                <a:cs typeface="Arial" panose="020B0604020202020204" pitchFamily="34" charset="0"/>
              </a:rPr>
              <a:t>analysis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cs typeface="Arial" panose="020B0604020202020204" pitchFamily="34" charset="0"/>
            </a:endParaRP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6095FBD2-182A-F900-A9B1-F7F307A42A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21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120"/>
    </mc:Choice>
    <mc:Fallback>
      <p:transition spd="slow" advTm="391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2DF894-C6E0-289E-99BB-69C5C008C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30119BD-16B2-4DC6-5F55-3BDDDF23C69F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Analysis - Challenges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16101B1-D044-3CFA-6F79-3771D4A57B2F}"/>
                  </a:ext>
                </a:extLst>
              </p:cNvPr>
              <p:cNvSpPr txBox="1"/>
              <p:nvPr/>
            </p:nvSpPr>
            <p:spPr>
              <a:xfrm>
                <a:off x="1099752" y="1359243"/>
                <a:ext cx="10441458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-"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Small Sample Size </a:t>
                </a: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	3 years of daily symptoms </a:t>
                </a:r>
                <a14:m>
                  <m:oMath xmlns:m="http://schemas.openxmlformats.org/officeDocument/2006/math">
                    <m:r>
                      <a:rPr kumimoji="0" lang="en-US" alt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1000 samples</a:t>
                </a:r>
              </a:p>
              <a:p>
                <a:pPr marL="457200" lvl="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-"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Class imbalance</a:t>
                </a: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800" dirty="0"/>
                  <a:t>	No. allergen logs  &gt;&gt;  No. symptom logs</a:t>
                </a:r>
              </a:p>
              <a:p>
                <a:pPr marL="457200" lvl="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-"/>
                </a:pP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Temporal uncertainty</a:t>
                </a:r>
                <a:endParaRPr lang="en-US" altLang="en-US" sz="2800" dirty="0"/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800" dirty="0"/>
                  <a:t>	</a:t>
                </a:r>
                <a:r>
                  <a:rPr kumimoji="0" lang="en-US" altLang="en-US" sz="2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rPr>
                  <a:t>Symptoms occurs hours or days after exposure</a:t>
                </a:r>
              </a:p>
              <a:p>
                <a:pPr marL="457200" lvl="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-"/>
                </a:pPr>
                <a:r>
                  <a:rPr lang="en-US" altLang="en-US" sz="2800" dirty="0"/>
                  <a:t>Allergens often co-occur</a:t>
                </a: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800" dirty="0"/>
                  <a:t>	Pie = dairy and gluten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-"/>
                </a:pPr>
                <a:r>
                  <a:rPr lang="en-US" altLang="en-US" sz="2800" dirty="0"/>
                  <a:t>Relies on user entering quality data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-"/>
                </a:pPr>
                <a:r>
                  <a:rPr lang="en-US" altLang="en-US" sz="2800" dirty="0"/>
                  <a:t>Non stationarity</a:t>
                </a:r>
              </a:p>
              <a:p>
                <a:pPr lvl="1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2800" dirty="0"/>
                  <a:t>	User sensitivity changes over time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16101B1-D044-3CFA-6F79-3771D4A57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752" y="1359243"/>
                <a:ext cx="10441458" cy="4832092"/>
              </a:xfrm>
              <a:prstGeom prst="rect">
                <a:avLst/>
              </a:prstGeom>
              <a:blipFill>
                <a:blip r:embed="rId5"/>
                <a:stretch>
                  <a:fillRect l="-1215" t="-1575" b="-2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Audio 5">
            <a:extLst>
              <a:ext uri="{FF2B5EF4-FFF2-40B4-BE49-F238E27FC236}">
                <a16:creationId xmlns:a16="http://schemas.microsoft.com/office/drawing/2014/main" id="{B7B47140-98BA-E337-2998-29147A790B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625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240"/>
    </mc:Choice>
    <mc:Fallback>
      <p:transition spd="slow" advTm="752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7CA3F2-8FE8-3FB2-0DAC-39A64DBF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070A650-625A-E8AF-C1EF-B7CC811FCACB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Model choice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53ECA9-0511-C6E9-E022-8DEB0B81F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675042"/>
              </p:ext>
            </p:extLst>
          </p:nvPr>
        </p:nvGraphicFramePr>
        <p:xfrm>
          <a:off x="584886" y="1454148"/>
          <a:ext cx="11022228" cy="4894879"/>
        </p:xfrm>
        <a:graphic>
          <a:graphicData uri="http://schemas.openxmlformats.org/drawingml/2006/table">
            <a:tbl>
              <a:tblPr/>
              <a:tblGrid>
                <a:gridCol w="2702011">
                  <a:extLst>
                    <a:ext uri="{9D8B030D-6E8A-4147-A177-3AD203B41FA5}">
                      <a16:colId xmlns:a16="http://schemas.microsoft.com/office/drawing/2014/main" val="944400814"/>
                    </a:ext>
                  </a:extLst>
                </a:gridCol>
                <a:gridCol w="1767017">
                  <a:extLst>
                    <a:ext uri="{9D8B030D-6E8A-4147-A177-3AD203B41FA5}">
                      <a16:colId xmlns:a16="http://schemas.microsoft.com/office/drawing/2014/main" val="1266414210"/>
                    </a:ext>
                  </a:extLst>
                </a:gridCol>
                <a:gridCol w="1655805">
                  <a:extLst>
                    <a:ext uri="{9D8B030D-6E8A-4147-A177-3AD203B41FA5}">
                      <a16:colId xmlns:a16="http://schemas.microsoft.com/office/drawing/2014/main" val="3416231071"/>
                    </a:ext>
                  </a:extLst>
                </a:gridCol>
                <a:gridCol w="1433384">
                  <a:extLst>
                    <a:ext uri="{9D8B030D-6E8A-4147-A177-3AD203B41FA5}">
                      <a16:colId xmlns:a16="http://schemas.microsoft.com/office/drawing/2014/main" val="4281795310"/>
                    </a:ext>
                  </a:extLst>
                </a:gridCol>
                <a:gridCol w="1297459">
                  <a:extLst>
                    <a:ext uri="{9D8B030D-6E8A-4147-A177-3AD203B41FA5}">
                      <a16:colId xmlns:a16="http://schemas.microsoft.com/office/drawing/2014/main" val="2781552711"/>
                    </a:ext>
                  </a:extLst>
                </a:gridCol>
                <a:gridCol w="1037968">
                  <a:extLst>
                    <a:ext uri="{9D8B030D-6E8A-4147-A177-3AD203B41FA5}">
                      <a16:colId xmlns:a16="http://schemas.microsoft.com/office/drawing/2014/main" val="4110399253"/>
                    </a:ext>
                  </a:extLst>
                </a:gridCol>
                <a:gridCol w="1128584">
                  <a:extLst>
                    <a:ext uri="{9D8B030D-6E8A-4147-A177-3AD203B41FA5}">
                      <a16:colId xmlns:a16="http://schemas.microsoft.com/office/drawing/2014/main" val="2544393121"/>
                    </a:ext>
                  </a:extLst>
                </a:gridCol>
              </a:tblGrid>
              <a:tr h="8537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NZ" sz="1600" b="1" dirty="0">
                          <a:solidFill>
                            <a:srgbClr val="111827"/>
                          </a:solidFill>
                          <a:effectLst/>
                        </a:rPr>
                        <a:t> Model</a:t>
                      </a:r>
                    </a:p>
                  </a:txBody>
                  <a:tcPr marL="31762" marR="31762" marT="15881" marB="15881" anchor="b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NZ" sz="1600" b="1" dirty="0">
                          <a:solidFill>
                            <a:srgbClr val="111827"/>
                          </a:solidFill>
                          <a:effectLst/>
                        </a:rPr>
                        <a:t>Binary Outcome</a:t>
                      </a:r>
                    </a:p>
                  </a:txBody>
                  <a:tcPr marL="31762" marR="31762" marT="15881" marB="15881" anchor="b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NZ" sz="1600" b="1" dirty="0">
                          <a:solidFill>
                            <a:srgbClr val="111827"/>
                          </a:solidFill>
                          <a:effectLst/>
                        </a:rPr>
                        <a:t>Interpretable</a:t>
                      </a:r>
                    </a:p>
                  </a:txBody>
                  <a:tcPr marL="31762" marR="31762" marT="15881" marB="15881" anchor="b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NZ" sz="1600" b="1" dirty="0">
                          <a:solidFill>
                            <a:srgbClr val="111827"/>
                          </a:solidFill>
                          <a:effectLst/>
                        </a:rPr>
                        <a:t>Stable &amp; Reproducible</a:t>
                      </a:r>
                    </a:p>
                  </a:txBody>
                  <a:tcPr marL="31762" marR="31762" marT="15881" marB="15881" anchor="b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NZ" sz="1600" b="1" dirty="0">
                          <a:solidFill>
                            <a:srgbClr val="111827"/>
                          </a:solidFill>
                          <a:effectLst/>
                        </a:rPr>
                        <a:t>Handles Correlated Exposures</a:t>
                      </a:r>
                    </a:p>
                  </a:txBody>
                  <a:tcPr marL="31762" marR="31762" marT="15881" marB="15881" anchor="b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NZ" sz="1600" b="1" dirty="0">
                          <a:solidFill>
                            <a:srgbClr val="111827"/>
                          </a:solidFill>
                          <a:effectLst/>
                        </a:rPr>
                        <a:t>Fast</a:t>
                      </a:r>
                    </a:p>
                  </a:txBody>
                  <a:tcPr marL="31762" marR="31762" marT="15881" marB="15881" anchor="b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NZ" sz="1600" b="1" dirty="0">
                          <a:solidFill>
                            <a:srgbClr val="111827"/>
                          </a:solidFill>
                          <a:effectLst/>
                        </a:rPr>
                        <a:t>Overall Fit</a:t>
                      </a:r>
                    </a:p>
                  </a:txBody>
                  <a:tcPr marL="31762" marR="31762" marT="15881" marB="15881" anchor="b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86388"/>
                  </a:ext>
                </a:extLst>
              </a:tr>
              <a:tr h="571477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NZ" sz="1600" b="1" dirty="0">
                          <a:solidFill>
                            <a:srgbClr val="111827"/>
                          </a:solidFill>
                          <a:effectLst/>
                        </a:rPr>
                        <a:t> Logistic Regression (L1/L2)</a:t>
                      </a:r>
                      <a:endParaRPr lang="en-NZ" sz="1600" dirty="0">
                        <a:effectLst/>
                      </a:endParaRP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b="1">
                          <a:solidFill>
                            <a:srgbClr val="111827"/>
                          </a:solidFill>
                          <a:effectLst/>
                        </a:rPr>
                        <a:t>✅✅✅ BEST</a:t>
                      </a:r>
                      <a:endParaRPr lang="en-NZ" sz="1600">
                        <a:effectLst/>
                      </a:endParaRP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05537"/>
                  </a:ext>
                </a:extLst>
              </a:tr>
              <a:tr h="464326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 Linear Probability Model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⚠️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762001"/>
                  </a:ext>
                </a:extLst>
              </a:tr>
              <a:tr h="3571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 Bernoulli Naive Bayes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⚠️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958513"/>
                  </a:ext>
                </a:extLst>
              </a:tr>
              <a:tr h="3571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 Fisher Exact Test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✅✅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540916"/>
                  </a:ext>
                </a:extLst>
              </a:tr>
              <a:tr h="3571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 Single Decision Tree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⚠️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4316926"/>
                  </a:ext>
                </a:extLst>
              </a:tr>
              <a:tr h="3571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 Random Forest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015233"/>
                  </a:ext>
                </a:extLst>
              </a:tr>
              <a:tr h="464326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 Gradient Boosting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809666"/>
                  </a:ext>
                </a:extLst>
              </a:tr>
              <a:tr h="39798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 Bayesian Logistic Regression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⚠️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595059"/>
                  </a:ext>
                </a:extLst>
              </a:tr>
              <a:tr h="3571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 Kernel SVM (RBF)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20715"/>
                  </a:ext>
                </a:extLst>
              </a:tr>
              <a:tr h="35717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 Neural Networks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✅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buNone/>
                      </a:pPr>
                      <a:r>
                        <a:rPr lang="en-NZ" sz="1600" dirty="0">
                          <a:effectLst/>
                        </a:rPr>
                        <a:t>❌</a:t>
                      </a:r>
                    </a:p>
                  </a:txBody>
                  <a:tcPr marL="31762" marR="31762" marT="15881" marB="15881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009276"/>
                  </a:ext>
                </a:extLst>
              </a:tr>
            </a:tbl>
          </a:graphicData>
        </a:graphic>
      </p:graphicFrame>
      <p:pic>
        <p:nvPicPr>
          <p:cNvPr id="12" name="Audio 11">
            <a:extLst>
              <a:ext uri="{FF2B5EF4-FFF2-40B4-BE49-F238E27FC236}">
                <a16:creationId xmlns:a16="http://schemas.microsoft.com/office/drawing/2014/main" id="{B29C82C1-21BF-9802-E4E5-98031A5E70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700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0"/>
    </mc:Choice>
    <mc:Fallback>
      <p:transition spd="slow" advTm="8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5AFA8C-ED1F-7E0A-4F54-4F7CBAB9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C73F7A2-40C9-DE52-E796-ACEB83A3B07B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Linking allergens and symptoms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29A38A0-6C08-92F1-2856-EDFD5DF2B8CC}"/>
              </a:ext>
            </a:extLst>
          </p:cNvPr>
          <p:cNvSpPr/>
          <p:nvPr/>
        </p:nvSpPr>
        <p:spPr>
          <a:xfrm>
            <a:off x="4725202" y="3059956"/>
            <a:ext cx="2333307" cy="16029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Logistic Regression Model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03F7675-2B35-4B81-46DB-11547A1F7AC6}"/>
              </a:ext>
            </a:extLst>
          </p:cNvPr>
          <p:cNvSpPr/>
          <p:nvPr/>
        </p:nvSpPr>
        <p:spPr>
          <a:xfrm>
            <a:off x="1261824" y="1833150"/>
            <a:ext cx="2545492" cy="6796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2363D2-D459-9D8B-D8DF-575450F34BBA}"/>
              </a:ext>
            </a:extLst>
          </p:cNvPr>
          <p:cNvSpPr/>
          <p:nvPr/>
        </p:nvSpPr>
        <p:spPr>
          <a:xfrm>
            <a:off x="339168" y="3144149"/>
            <a:ext cx="2545492" cy="6796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D7985C-277B-CEEA-E054-7F1B2215490A}"/>
              </a:ext>
            </a:extLst>
          </p:cNvPr>
          <p:cNvSpPr txBox="1"/>
          <p:nvPr/>
        </p:nvSpPr>
        <p:spPr>
          <a:xfrm>
            <a:off x="1702583" y="2573738"/>
            <a:ext cx="110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Allergens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C144B6-FC2C-D8EB-535F-16D183087F47}"/>
              </a:ext>
            </a:extLst>
          </p:cNvPr>
          <p:cNvSpPr txBox="1"/>
          <p:nvPr/>
        </p:nvSpPr>
        <p:spPr>
          <a:xfrm>
            <a:off x="579676" y="3829224"/>
            <a:ext cx="20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Symptoms present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7DDB36-3E32-CCE1-01FE-5DE5B418DD59}"/>
              </a:ext>
            </a:extLst>
          </p:cNvPr>
          <p:cNvCxnSpPr>
            <a:cxnSpLocks/>
          </p:cNvCxnSpPr>
          <p:nvPr/>
        </p:nvCxnSpPr>
        <p:spPr>
          <a:xfrm>
            <a:off x="3086100" y="3588493"/>
            <a:ext cx="1516836" cy="23527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530408-A509-598E-4983-9AA2D5C5705E}"/>
              </a:ext>
            </a:extLst>
          </p:cNvPr>
          <p:cNvCxnSpPr>
            <a:cxnSpLocks/>
          </p:cNvCxnSpPr>
          <p:nvPr/>
        </p:nvCxnSpPr>
        <p:spPr>
          <a:xfrm flipV="1">
            <a:off x="3382599" y="4430493"/>
            <a:ext cx="1220337" cy="23245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4034A175-0C4F-C69F-AA63-324072184F64}"/>
              </a:ext>
            </a:extLst>
          </p:cNvPr>
          <p:cNvSpPr/>
          <p:nvPr/>
        </p:nvSpPr>
        <p:spPr>
          <a:xfrm>
            <a:off x="7320710" y="2105081"/>
            <a:ext cx="2545492" cy="6796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Coefficients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034FEDA-2760-3EE1-6C05-CDF56256E0E3}"/>
              </a:ext>
            </a:extLst>
          </p:cNvPr>
          <p:cNvCxnSpPr>
            <a:cxnSpLocks/>
          </p:cNvCxnSpPr>
          <p:nvPr/>
        </p:nvCxnSpPr>
        <p:spPr>
          <a:xfrm flipV="1">
            <a:off x="6627654" y="2655703"/>
            <a:ext cx="621098" cy="49289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16DF29D-86E7-1E35-3FD0-03F76FDF57DE}"/>
              </a:ext>
            </a:extLst>
          </p:cNvPr>
          <p:cNvSpPr txBox="1"/>
          <p:nvPr/>
        </p:nvSpPr>
        <p:spPr>
          <a:xfrm>
            <a:off x="8288573" y="2930769"/>
            <a:ext cx="1290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Odds Ratio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7920AB-F1B1-31F6-EFD0-72686EC0EC3A}"/>
              </a:ext>
            </a:extLst>
          </p:cNvPr>
          <p:cNvSpPr txBox="1"/>
          <p:nvPr/>
        </p:nvSpPr>
        <p:spPr>
          <a:xfrm>
            <a:off x="1220381" y="5318104"/>
            <a:ext cx="63098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Regularisation</a:t>
            </a:r>
            <a:r>
              <a:rPr lang="en-US" dirty="0"/>
              <a:t> (L1 or L2) – mitigates collinearity and overfitting</a:t>
            </a:r>
          </a:p>
          <a:p>
            <a:r>
              <a:rPr lang="en-US" dirty="0"/>
              <a:t>Nested cross validation – unbiased and stable performance</a:t>
            </a:r>
          </a:p>
          <a:p>
            <a:r>
              <a:rPr lang="en-US" dirty="0"/>
              <a:t>Class weighting – accounts for class imbalance</a:t>
            </a:r>
          </a:p>
          <a:p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48578DB-9FC3-A8B1-FC8A-6AE9C800662C}"/>
              </a:ext>
            </a:extLst>
          </p:cNvPr>
          <p:cNvCxnSpPr>
            <a:cxnSpLocks/>
          </p:cNvCxnSpPr>
          <p:nvPr/>
        </p:nvCxnSpPr>
        <p:spPr>
          <a:xfrm>
            <a:off x="5303933" y="3588493"/>
            <a:ext cx="0" cy="322724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872644E-FD35-BBC6-4A52-2C87511D2A8C}"/>
              </a:ext>
            </a:extLst>
          </p:cNvPr>
          <p:cNvCxnSpPr>
            <a:cxnSpLocks/>
          </p:cNvCxnSpPr>
          <p:nvPr/>
        </p:nvCxnSpPr>
        <p:spPr>
          <a:xfrm>
            <a:off x="3807316" y="2512772"/>
            <a:ext cx="1135934" cy="728452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34583F8-32EE-7CA6-A877-23D49B592E2D}"/>
              </a:ext>
            </a:extLst>
          </p:cNvPr>
          <p:cNvSpPr/>
          <p:nvPr/>
        </p:nvSpPr>
        <p:spPr>
          <a:xfrm>
            <a:off x="837107" y="4515319"/>
            <a:ext cx="2545492" cy="6796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Modelling Techniques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19E6393-321F-FE06-FA50-D6C46CDFFAE9}"/>
              </a:ext>
            </a:extLst>
          </p:cNvPr>
          <p:cNvSpPr/>
          <p:nvPr/>
        </p:nvSpPr>
        <p:spPr>
          <a:xfrm>
            <a:off x="7679573" y="3750871"/>
            <a:ext cx="1542580" cy="6796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Metrics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F0BFE38-1920-BE36-BA2A-39EEE3905274}"/>
              </a:ext>
            </a:extLst>
          </p:cNvPr>
          <p:cNvCxnSpPr>
            <a:cxnSpLocks/>
          </p:cNvCxnSpPr>
          <p:nvPr/>
        </p:nvCxnSpPr>
        <p:spPr>
          <a:xfrm>
            <a:off x="7140154" y="3998804"/>
            <a:ext cx="425958" cy="11641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8F2128A-70A5-5517-22A4-AE3DC729A1D2}"/>
              </a:ext>
            </a:extLst>
          </p:cNvPr>
          <p:cNvSpPr txBox="1"/>
          <p:nvPr/>
        </p:nvSpPr>
        <p:spPr>
          <a:xfrm>
            <a:off x="8288573" y="4551165"/>
            <a:ext cx="35536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Symptom separation (ROC AUC)</a:t>
            </a:r>
          </a:p>
          <a:p>
            <a:r>
              <a:rPr lang="en-US" dirty="0"/>
              <a:t>Recall</a:t>
            </a:r>
          </a:p>
          <a:p>
            <a:r>
              <a:rPr lang="en-US" dirty="0"/>
              <a:t>Sample size</a:t>
            </a:r>
          </a:p>
          <a:p>
            <a:r>
              <a:rPr lang="en-US" dirty="0"/>
              <a:t>Confidence intervals</a:t>
            </a:r>
          </a:p>
          <a:p>
            <a:r>
              <a:rPr lang="en-US" dirty="0"/>
              <a:t>Collinearity warning</a:t>
            </a:r>
          </a:p>
        </p:txBody>
      </p:sp>
      <p:pic>
        <p:nvPicPr>
          <p:cNvPr id="15" name="Audio 14">
            <a:extLst>
              <a:ext uri="{FF2B5EF4-FFF2-40B4-BE49-F238E27FC236}">
                <a16:creationId xmlns:a16="http://schemas.microsoft.com/office/drawing/2014/main" id="{B2153023-925D-25B7-6586-EDDBCF5C41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267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000"/>
    </mc:Choice>
    <mc:Fallback>
      <p:transition spd="slow" advTm="6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85023-9A92-88E4-E1C9-DA1F12F5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09FA81-6F4B-0A7C-495D-871D88560621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Deep Dive into Modelling Technique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23B8B577-F1E4-9097-38C8-AD94DCE3E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2090173"/>
            <a:ext cx="107315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Goal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Identify allergens most strongly associated with symptom occurrence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⟺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allergens with the largest positive logistic regression coefficients (highest odds ratios)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991BF682-97FB-CD13-C7EA-B4786058BF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297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600"/>
    </mc:Choice>
    <mc:Fallback>
      <p:transition spd="slow" advTm="196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82E71-F3EF-0D17-4EA0-61A1D7C87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8A72F25-FF0A-0040-9031-A008B4BC0163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Deep Dive into Modelling Technique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08E5877B-6412-5201-12F2-883538601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386" y="1359243"/>
            <a:ext cx="10871200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Model selection &amp; fitting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Evaluate multiple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exposure–symptom time windows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to account for delayed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Assess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class imbalance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using the proportion of symptom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Fit a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regularized logistic regression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model: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Penalties: L1 and L2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Regularization strength: C ∈ {0.1,1,10}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Select the best model using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ROC AUC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Use 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5-fold cross-validation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to estimate: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Mean ROC AUC (discrimination)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Mean recall (sensitivity to symptom events)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87A905BE-4761-F251-0976-97BB5BE4D60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027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260"/>
    </mc:Choice>
    <mc:Fallback>
      <p:transition spd="slow" advTm="512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EBB6B4-05C9-C7D6-DE9F-E6B3C86E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0580401-A923-5C59-9D95-D8FE4343316E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Deep Dive into Modelling Technique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1D936C6C-9B9D-3B54-1274-9CDBA718B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8990" y="1631351"/>
            <a:ext cx="8001871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Outputs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Odds ratios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for each allergen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(OR=e</a:t>
            </a:r>
            <a:r>
              <a:rPr kumimoji="0" lang="en-US" altLang="en-US" sz="20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</a:rPr>
              <a:t>β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identifying allergens with the highest odds of symptom occurrence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Model reliability metrics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ROC AUC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Recall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Sample size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Collinearity indicator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Confidence intervals for odds ratios using bootstrap resampling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0508FF2F-5271-F820-4FB6-1E9D17F64D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9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60"/>
    </mc:Choice>
    <mc:Fallback>
      <p:transition spd="slow" advTm="84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60CDB5-289E-3C75-6B4D-95AADBF3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83968C7-362B-87B3-57C9-51F00968D051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Validation: Synthetic User and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8DD836-5836-0914-F1EA-E76BBA1CF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2591135"/>
            <a:ext cx="101727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Evaluate allergen–symptom models using data with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known causal relationships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Causal allergens: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Dairy, Peanuts, Shellfish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Intensity: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Peanuts include a 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dose–response effect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Tests whether models detect real associations</a:t>
            </a:r>
          </a:p>
        </p:txBody>
      </p:sp>
    </p:spTree>
    <p:extLst>
      <p:ext uri="{BB962C8B-B14F-4D97-AF65-F5344CB8AC3E}">
        <p14:creationId xmlns:p14="http://schemas.microsoft.com/office/powerpoint/2010/main" val="2128286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36AC6-3E68-BA38-2A09-22A83FC7C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C83C747-3615-3FD0-BF71-C4A359A5E9BD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Validation: Synthetic User and Data</a:t>
            </a:r>
          </a:p>
        </p:txBody>
      </p:sp>
      <p:pic>
        <p:nvPicPr>
          <p:cNvPr id="12290" name="Picture 2" descr="Allergen Rank Plot">
            <a:extLst>
              <a:ext uri="{FF2B5EF4-FFF2-40B4-BE49-F238E27FC236}">
                <a16:creationId xmlns:a16="http://schemas.microsoft.com/office/drawing/2014/main" id="{CFE3D16A-0140-38D9-9671-B619937B97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1" r="-1366" b="50776"/>
          <a:stretch>
            <a:fillRect/>
          </a:stretch>
        </p:blipFill>
        <p:spPr bwMode="auto">
          <a:xfrm>
            <a:off x="825500" y="1359243"/>
            <a:ext cx="10500651" cy="4838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586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4EAF9-A3C2-047F-036B-64501A2F5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6C417A2-ED69-F90C-9E43-DE2502737417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Exploring the App Further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64011-62A5-1EF0-B637-A05753486720}"/>
              </a:ext>
            </a:extLst>
          </p:cNvPr>
          <p:cNvSpPr txBox="1"/>
          <p:nvPr/>
        </p:nvSpPr>
        <p:spPr>
          <a:xfrm>
            <a:off x="4978400" y="2686735"/>
            <a:ext cx="2476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food_body_connection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929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E1388C-903E-BB8F-7547-BCFA0649B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550DA29-DE52-F16F-C516-3430F0D21DCA}"/>
              </a:ext>
            </a:extLst>
          </p:cNvPr>
          <p:cNvSpPr txBox="1">
            <a:spLocks/>
          </p:cNvSpPr>
          <p:nvPr/>
        </p:nvSpPr>
        <p:spPr>
          <a:xfrm>
            <a:off x="0" y="583918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549578B-F034-A209-8725-EB69BFA22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0091" y="1359243"/>
            <a:ext cx="9672841" cy="5293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altLang="en-US" sz="2000" b="1" dirty="0">
                <a:solidFill>
                  <a:srgbClr val="000000"/>
                </a:solidFill>
              </a:rPr>
              <a:t>Target audience: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rgbClr val="000000"/>
                </a:solidFill>
              </a:rPr>
              <a:t>Health practitioners and individuals with chronic symptoms linked to allergens</a:t>
            </a:r>
          </a:p>
          <a:p>
            <a:pPr lvl="0"/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lvl="0"/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User Benefit: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Makes hidden food–body connections visible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Empowers users to make informed dietary and lifestyle choices</a:t>
            </a:r>
          </a:p>
          <a:p>
            <a:pPr lvl="0"/>
            <a:endParaRPr lang="en-US" altLang="en-US" sz="2000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Key Features: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Track exposures and symptoms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Analyze relationships: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Identify correlations between exposures and symptoms.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Insights &amp; reports: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Odds ratios, intensity charts, and personalized summaries.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Architecture: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Frontend: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Static web app (GitHub Pages) → sends requests to API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Backend: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FastAPI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→ handles authentication, data storage,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Database: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PostgreSQL on AWS RDS → structured health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DDAA41-D4DA-349E-9798-862A507803CF}"/>
              </a:ext>
            </a:extLst>
          </p:cNvPr>
          <p:cNvSpPr txBox="1">
            <a:spLocks/>
          </p:cNvSpPr>
          <p:nvPr/>
        </p:nvSpPr>
        <p:spPr>
          <a:xfrm>
            <a:off x="-101600" y="583918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92A20-F70F-F30C-AEE1-E58FBC6A605B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Summary: Food – Body Connection App</a:t>
            </a:r>
          </a:p>
        </p:txBody>
      </p:sp>
    </p:spTree>
    <p:extLst>
      <p:ext uri="{BB962C8B-B14F-4D97-AF65-F5344CB8AC3E}">
        <p14:creationId xmlns:p14="http://schemas.microsoft.com/office/powerpoint/2010/main" val="742843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9000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C6C13-AE51-34D6-A1E4-A5882E8BD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24B4106-5FD9-A95D-DF46-1E28B609BE41}"/>
              </a:ext>
            </a:extLst>
          </p:cNvPr>
          <p:cNvSpPr txBox="1">
            <a:spLocks/>
          </p:cNvSpPr>
          <p:nvPr/>
        </p:nvSpPr>
        <p:spPr>
          <a:xfrm>
            <a:off x="1" y="158536"/>
            <a:ext cx="12192000" cy="12007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Future 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F46A5C-AB72-3E56-CBA7-AD4EE100FBA4}"/>
              </a:ext>
            </a:extLst>
          </p:cNvPr>
          <p:cNvSpPr txBox="1"/>
          <p:nvPr/>
        </p:nvSpPr>
        <p:spPr>
          <a:xfrm>
            <a:off x="2177538" y="1148488"/>
            <a:ext cx="7775270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Test for regular cycles in symptom occurrence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Introduce a new table – food, which automatically allocates allergens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Option to email reports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Another form displaying raw data users can edit / delete logs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Introduce analysis on selected dates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Allow users to log multiple allergens / symptoms per event</a:t>
            </a:r>
          </a:p>
          <a:p>
            <a:pPr lvl="1"/>
            <a:endParaRPr lang="en-US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Architecture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Move to alternative system – long term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F0855F-CC9B-9A94-1DE8-07D98CE8FFD1}"/>
              </a:ext>
            </a:extLst>
          </p:cNvPr>
          <p:cNvSpPr txBox="1"/>
          <p:nvPr/>
        </p:nvSpPr>
        <p:spPr>
          <a:xfrm>
            <a:off x="4040862" y="4045151"/>
            <a:ext cx="766030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	</a:t>
            </a:r>
          </a:p>
          <a:p>
            <a:r>
              <a:rPr lang="en-US" dirty="0"/>
              <a:t>	https://alkohout.github.io/food_body_connection/dashboard.html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https://github.com/alkohout/food_body_connection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https://</a:t>
            </a:r>
            <a:r>
              <a:rPr lang="en-US" dirty="0" err="1"/>
              <a:t>www.linkedin.com</a:t>
            </a:r>
            <a:r>
              <a:rPr lang="en-US" dirty="0"/>
              <a:t>/in/</a:t>
            </a:r>
            <a:r>
              <a:rPr lang="en-US" dirty="0" err="1"/>
              <a:t>alisonkohout</a:t>
            </a:r>
            <a:r>
              <a:rPr lang="en-US" dirty="0"/>
              <a:t>/</a:t>
            </a:r>
          </a:p>
        </p:txBody>
      </p:sp>
      <p:pic>
        <p:nvPicPr>
          <p:cNvPr id="3" name="Picture 2" descr="A black cat in a circle&#10;&#10;AI-generated content may be incorrect.">
            <a:extLst>
              <a:ext uri="{FF2B5EF4-FFF2-40B4-BE49-F238E27FC236}">
                <a16:creationId xmlns:a16="http://schemas.microsoft.com/office/drawing/2014/main" id="{A7606EA1-8E49-119B-D9E8-85231FB92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835" y="5023677"/>
            <a:ext cx="609600" cy="609600"/>
          </a:xfrm>
          <a:prstGeom prst="rect">
            <a:avLst/>
          </a:prstGeom>
        </p:spPr>
      </p:pic>
      <p:pic>
        <p:nvPicPr>
          <p:cNvPr id="1026" name="Picture 2" descr="Website Icon PNG Images, Vectors Free Download - Pngtree">
            <a:extLst>
              <a:ext uri="{FF2B5EF4-FFF2-40B4-BE49-F238E27FC236}">
                <a16:creationId xmlns:a16="http://schemas.microsoft.com/office/drawing/2014/main" id="{A710B93E-4F22-4DF1-2966-15298DD37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0333" y1="34500" x2="24500" y2="35000"/>
                        <a14:foregroundMark x1="29167" y1="21500" x2="26000" y2="23333"/>
                        <a14:foregroundMark x1="42167" y1="25917" x2="51167" y2="18750"/>
                        <a14:foregroundMark x1="51167" y1="18750" x2="55167" y2="22000"/>
                        <a14:foregroundMark x1="68750" y1="20167" x2="72917" y2="24333"/>
                        <a14:foregroundMark x1="75500" y1="36583" x2="82250" y2="44917"/>
                        <a14:foregroundMark x1="77583" y1="60500" x2="73917" y2="66750"/>
                        <a14:foregroundMark x1="37000" y1="61583" x2="61333" y2="60833"/>
                        <a14:foregroundMark x1="61333" y1="60833" x2="65333" y2="60833"/>
                        <a14:foregroundMark x1="19500" y1="61583" x2="24750" y2="57667"/>
                        <a14:foregroundMark x1="28417" y1="78000" x2="33833" y2="81667"/>
                        <a14:foregroundMark x1="43000" y1="75417" x2="61333" y2="76917"/>
                        <a14:foregroundMark x1="61333" y1="76917" x2="50750" y2="81667"/>
                        <a14:foregroundMark x1="50750" y1="81667" x2="50750" y2="81667"/>
                        <a14:foregroundMark x1="70833" y1="78500" x2="65583" y2="83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564" y="4180595"/>
            <a:ext cx="758140" cy="758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nkedin logo png, Linkedin icon transparent png 18930480 PNG">
            <a:extLst>
              <a:ext uri="{FF2B5EF4-FFF2-40B4-BE49-F238E27FC236}">
                <a16:creationId xmlns:a16="http://schemas.microsoft.com/office/drawing/2014/main" id="{712B06D6-1AD0-FE61-64DA-CE4A20C31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7886" y="5666630"/>
            <a:ext cx="971497" cy="97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0DF0BD4-B573-BF48-A352-298F2C3D0B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203" y="4194322"/>
            <a:ext cx="2474654" cy="247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546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10194</TotalTime>
  <Words>933</Words>
  <Application>Microsoft Macintosh PowerPoint</Application>
  <PresentationFormat>Widescreen</PresentationFormat>
  <Paragraphs>290</Paragraphs>
  <Slides>20</Slides>
  <Notes>9</Notes>
  <HiddenSlides>0</HiddenSlides>
  <MMClips>15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Food – Body  Connection</vt:lpstr>
      <vt:lpstr>Target audience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alison kohout</dc:creator>
  <cp:lastModifiedBy>alison kohout</cp:lastModifiedBy>
  <cp:revision>45</cp:revision>
  <dcterms:created xsi:type="dcterms:W3CDTF">2026-02-02T17:08:18Z</dcterms:created>
  <dcterms:modified xsi:type="dcterms:W3CDTF">2026-02-11T05:38:39Z</dcterms:modified>
</cp:coreProperties>
</file>